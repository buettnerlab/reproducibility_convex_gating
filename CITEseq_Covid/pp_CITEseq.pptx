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56" r:id="rId3"/>
    <p:sldId id="260" r:id="rId4"/>
    <p:sldId id="257" r:id="rId5"/>
    <p:sldId id="261" r:id="rId6"/>
    <p:sldId id="259" r:id="rId7"/>
    <p:sldId id="258" r:id="rId8"/>
    <p:sldId id="267" r:id="rId9"/>
    <p:sldId id="263" r:id="rId10"/>
    <p:sldId id="265" r:id="rId11"/>
    <p:sldId id="268" r:id="rId12"/>
    <p:sldId id="266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050" autoAdjust="0"/>
    <p:restoredTop sz="94660"/>
  </p:normalViewPr>
  <p:slideViewPr>
    <p:cSldViewPr snapToGrid="0">
      <p:cViewPr varScale="1">
        <p:scale>
          <a:sx n="151" d="100"/>
          <a:sy n="151" d="100"/>
        </p:scale>
        <p:origin x="72" y="3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BA49E4-0744-1189-7A31-516C496D786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1F13B99-1321-6E3A-C1D6-FD36ADFCF4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CF04BA7-57B7-B399-7A29-88F2373CE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DD86B-63DD-41DD-8D04-C864B2C8B0B8}" type="datetimeFigureOut">
              <a:rPr lang="de-DE" smtClean="0"/>
              <a:t>13.04.2023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75CB08A-59B4-240C-7221-49BFC5631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35C2036-3219-047D-6B3C-DD5D0CC91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CB9E7A-1C8E-47A1-81C2-D46BADC813B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3015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D46068-0AFC-E3FF-6CF9-F6DA8A8C84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1D0C47C-2700-1BAF-09C0-C8FF54E2F2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3B51CF3-FADA-2A08-13C1-643690FA97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DD86B-63DD-41DD-8D04-C864B2C8B0B8}" type="datetimeFigureOut">
              <a:rPr lang="de-DE" smtClean="0"/>
              <a:t>13.04.2023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CDD9FAB-1347-8C96-DE66-B0356D4FF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4D385DC-29E6-0550-A8EB-2FE5ADFCB5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CB9E7A-1C8E-47A1-81C2-D46BADC813B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17228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996019-8356-3780-404F-F2C4689D9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9BF8E99-E309-2068-3533-2085FF3B21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34521CB-171D-E6A7-B93B-ABDF96F610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DD86B-63DD-41DD-8D04-C864B2C8B0B8}" type="datetimeFigureOut">
              <a:rPr lang="de-DE" smtClean="0"/>
              <a:t>13.04.2023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CB56634-9096-10D9-04B1-D9303BCC2D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985729C-71C7-8130-34A6-0105CE4C0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CB9E7A-1C8E-47A1-81C2-D46BADC813B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795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1692BB-F478-E7A4-6502-0A2FA8E9E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2754DD-1E79-D630-EF7A-7E2BB8CDC2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17844F8-1477-8CB4-B178-FD245B5E45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FAF0F7D-BD4D-B17E-7831-AFD531FA6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DD86B-63DD-41DD-8D04-C864B2C8B0B8}" type="datetimeFigureOut">
              <a:rPr lang="de-DE" smtClean="0"/>
              <a:t>13.04.2023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D0E6338-00E4-7B20-1649-B159C73A3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0775E56-53DA-47ED-3DC8-6C94ADDA1B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CB9E7A-1C8E-47A1-81C2-D46BADC813B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613276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FC51FF-D551-C314-EF7B-8FB088C6F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78C94D8-041B-545E-57BD-A50AE7F618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10A94AD-1906-D2C7-1E14-0234542AAD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6A0984BA-18C8-B1E5-79F6-EAA223650A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B74C9A71-8D40-2938-FD58-565CE3EF4E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62D129D-347E-E5B3-D5AF-3FB12DE4C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DD86B-63DD-41DD-8D04-C864B2C8B0B8}" type="datetimeFigureOut">
              <a:rPr lang="de-DE" smtClean="0"/>
              <a:t>13.04.2023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9A0278F9-85D3-DA49-D819-EC61AA374F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6867DD54-E9F0-FABE-5227-EC5C8D83C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CB9E7A-1C8E-47A1-81C2-D46BADC813B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18217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B484EE-6E66-0A9C-B516-A6B2D05EA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031E214-D9B8-1505-0D93-D9B2372535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DD86B-63DD-41DD-8D04-C864B2C8B0B8}" type="datetimeFigureOut">
              <a:rPr lang="de-DE" smtClean="0"/>
              <a:t>13.04.2023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F58CD84-7918-369E-C0CC-4D893F34D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00029EF-D289-D539-9C9E-2B58AF743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CB9E7A-1C8E-47A1-81C2-D46BADC813B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45244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A10851C-2C60-3C0A-5A87-73D2E46B8B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DD86B-63DD-41DD-8D04-C864B2C8B0B8}" type="datetimeFigureOut">
              <a:rPr lang="de-DE" smtClean="0"/>
              <a:t>13.04.2023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EC72C09-C2F6-8755-DB56-38F5022CE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3A6F775-062F-17C1-0604-B88F23FB2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CB9E7A-1C8E-47A1-81C2-D46BADC813B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20833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9014C6-7024-560B-717B-97569D9DB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26277AC-1754-2A59-935E-18FD7F27EA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72EB370-2C11-8CCC-9320-C103474646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0C104AE-41B7-74AE-3952-E2273F8E9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DD86B-63DD-41DD-8D04-C864B2C8B0B8}" type="datetimeFigureOut">
              <a:rPr lang="de-DE" smtClean="0"/>
              <a:t>13.04.2023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FD77756-5722-94D8-AAFA-8B5719C40C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F0668D5-D504-5177-8677-4EC1F6E4C4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CB9E7A-1C8E-47A1-81C2-D46BADC813B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965498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3E8C3B-F511-273E-AA8F-223EFD09C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0E4AE707-3CD6-4CFB-59E4-106CF71621B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B3E3EC6-42A7-D63F-600B-D0AEBD61D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A6AA58D-799D-5F74-43E4-FBC6C3913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DD86B-63DD-41DD-8D04-C864B2C8B0B8}" type="datetimeFigureOut">
              <a:rPr lang="de-DE" smtClean="0"/>
              <a:t>13.04.2023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61A719A-AF09-D6D4-C3DC-E2759011B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FBE36DC-52D2-F51C-705B-C3510136F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CB9E7A-1C8E-47A1-81C2-D46BADC813B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20612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EF1CAC-7ADB-8ADC-6A04-62C6ECDAE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B7A9084-2D80-3DBE-A516-BC7A22AEAF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338E530-6DD0-C527-6AB1-6A70CA6B5F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DD86B-63DD-41DD-8D04-C864B2C8B0B8}" type="datetimeFigureOut">
              <a:rPr lang="de-DE" smtClean="0"/>
              <a:t>13.04.2023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A31D407-7489-DF67-4912-362FF66A5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BA64604-B73E-2CB9-23E8-462624AF2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CB9E7A-1C8E-47A1-81C2-D46BADC813B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409949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0CE5686B-4EA4-1FCB-9F95-9BBE4E316F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E7423C7-C30D-DDD8-C68C-B085F66395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DF55BDF-1D0D-E188-046C-02EF42891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5DD86B-63DD-41DD-8D04-C864B2C8B0B8}" type="datetimeFigureOut">
              <a:rPr lang="de-DE" smtClean="0"/>
              <a:t>13.04.2023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081E303-03BB-28EA-B9D2-C8083361D2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B805BD3-773D-7FE0-41B6-B77ED0F46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CB9E7A-1C8E-47A1-81C2-D46BADC813B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51305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87E16846-1504-A091-2788-B4C7EB854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88F76A1-D2A8-553C-1976-43588CD1CE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13608D9-7115-9868-C563-1EAF4EA44B6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5DD86B-63DD-41DD-8D04-C864B2C8B0B8}" type="datetimeFigureOut">
              <a:rPr lang="de-DE" smtClean="0"/>
              <a:t>13.04.2023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BF2289B-B5BC-E47B-7873-740FA462F0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E8E6E1E-B3C8-C5A3-751F-61C2905CD72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CB9E7A-1C8E-47A1-81C2-D46BADC813B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249938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18" Type="http://schemas.openxmlformats.org/officeDocument/2006/relationships/image" Target="../media/image3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31.png"/><Relationship Id="rId2" Type="http://schemas.openxmlformats.org/officeDocument/2006/relationships/image" Target="../media/image16.png"/><Relationship Id="rId16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10" Type="http://schemas.openxmlformats.org/officeDocument/2006/relationships/image" Target="../media/image24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tmp"/><Relationship Id="rId2" Type="http://schemas.openxmlformats.org/officeDocument/2006/relationships/image" Target="../media/image41.tmp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tmp"/><Relationship Id="rId2" Type="http://schemas.openxmlformats.org/officeDocument/2006/relationships/image" Target="../media/image43.tmp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tmp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.png"/><Relationship Id="rId3" Type="http://schemas.openxmlformats.org/officeDocument/2006/relationships/image" Target="../media/image54.png"/><Relationship Id="rId7" Type="http://schemas.openxmlformats.org/officeDocument/2006/relationships/image" Target="../media/image58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png"/><Relationship Id="rId9" Type="http://schemas.openxmlformats.org/officeDocument/2006/relationships/image" Target="../media/image6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tmp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feld 5">
            <a:extLst>
              <a:ext uri="{FF2B5EF4-FFF2-40B4-BE49-F238E27FC236}">
                <a16:creationId xmlns:a16="http://schemas.microsoft.com/office/drawing/2014/main" id="{CF8B182D-3079-634D-7EEB-41561E8A1451}"/>
              </a:ext>
            </a:extLst>
          </p:cNvPr>
          <p:cNvSpPr txBox="1"/>
          <p:nvPr/>
        </p:nvSpPr>
        <p:spPr>
          <a:xfrm>
            <a:off x="2651760" y="1803400"/>
            <a:ext cx="725424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600" dirty="0" err="1"/>
              <a:t>CITEseq</a:t>
            </a:r>
            <a:endParaRPr lang="de-DE" sz="16600" dirty="0"/>
          </a:p>
        </p:txBody>
      </p:sp>
    </p:spTree>
    <p:extLst>
      <p:ext uri="{BB962C8B-B14F-4D97-AF65-F5344CB8AC3E}">
        <p14:creationId xmlns:p14="http://schemas.microsoft.com/office/powerpoint/2010/main" val="1031598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2E07CC15-69AA-3E17-224F-B89F4CA31E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189" y="375704"/>
            <a:ext cx="2127994" cy="1549616"/>
          </a:xfrm>
          <a:prstGeom prst="rect">
            <a:avLst/>
          </a:prstGeom>
        </p:spPr>
      </p:pic>
      <p:pic>
        <p:nvPicPr>
          <p:cNvPr id="7" name="Grafik 6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476C7ADB-3168-3A52-F498-486C26902E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2521" y="421249"/>
            <a:ext cx="1951548" cy="1458525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E5060F2C-B8BE-29D7-CD70-4167E4CD260F}"/>
              </a:ext>
            </a:extLst>
          </p:cNvPr>
          <p:cNvSpPr txBox="1"/>
          <p:nvPr/>
        </p:nvSpPr>
        <p:spPr>
          <a:xfrm>
            <a:off x="8159670" y="1755212"/>
            <a:ext cx="22396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 err="1"/>
              <a:t>denoised</a:t>
            </a:r>
            <a:r>
              <a:rPr lang="de-DE" b="1" dirty="0"/>
              <a:t> – </a:t>
            </a:r>
            <a:r>
              <a:rPr lang="de-DE" b="1" dirty="0" err="1"/>
              <a:t>full</a:t>
            </a:r>
            <a:r>
              <a:rPr lang="de-DE" b="1" dirty="0"/>
              <a:t> </a:t>
            </a:r>
            <a:r>
              <a:rPr lang="de-DE" b="1" dirty="0" err="1"/>
              <a:t>panel</a:t>
            </a:r>
            <a:r>
              <a:rPr lang="de-DE" b="1" dirty="0"/>
              <a:t> 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6770A72A-FEC2-77C3-081F-AD09657036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189" y="2010529"/>
            <a:ext cx="2010982" cy="1464407"/>
          </a:xfrm>
          <a:prstGeom prst="rect">
            <a:avLst/>
          </a:prstGeom>
        </p:spPr>
      </p:pic>
      <p:pic>
        <p:nvPicPr>
          <p:cNvPr id="14" name="Grafik 13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CE0E0C5E-E6E5-E543-27B2-27A9772E14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2521" y="2023140"/>
            <a:ext cx="1951548" cy="1458526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0A38CBE5-4063-D7CC-3039-C9E07E7250B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370" y="2023140"/>
            <a:ext cx="2127993" cy="1418662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611F61A9-E4B0-C96D-65F0-B94190ACF7A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369" y="375704"/>
            <a:ext cx="2127994" cy="1418662"/>
          </a:xfrm>
          <a:prstGeom prst="rect">
            <a:avLst/>
          </a:prstGeom>
        </p:spPr>
      </p:pic>
      <p:sp>
        <p:nvSpPr>
          <p:cNvPr id="19" name="Textfeld 18">
            <a:extLst>
              <a:ext uri="{FF2B5EF4-FFF2-40B4-BE49-F238E27FC236}">
                <a16:creationId xmlns:a16="http://schemas.microsoft.com/office/drawing/2014/main" id="{8CC97230-243C-6AA3-7523-AEB7B4BB774A}"/>
              </a:ext>
            </a:extLst>
          </p:cNvPr>
          <p:cNvSpPr txBox="1"/>
          <p:nvPr/>
        </p:nvSpPr>
        <p:spPr>
          <a:xfrm>
            <a:off x="8091910" y="5068436"/>
            <a:ext cx="26226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 err="1"/>
              <a:t>denoised</a:t>
            </a:r>
            <a:r>
              <a:rPr lang="de-DE" b="1" dirty="0"/>
              <a:t> – minimal </a:t>
            </a:r>
            <a:r>
              <a:rPr lang="de-DE" b="1" dirty="0" err="1"/>
              <a:t>panel</a:t>
            </a:r>
            <a:endParaRPr lang="de-DE" b="1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C5B4708F-9A28-396F-6362-2D1E3976F30D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189" y="3798765"/>
            <a:ext cx="2127994" cy="1549616"/>
          </a:xfrm>
          <a:prstGeom prst="rect">
            <a:avLst/>
          </a:prstGeom>
        </p:spPr>
      </p:pic>
      <p:pic>
        <p:nvPicPr>
          <p:cNvPr id="23" name="Grafik 22">
            <a:extLst>
              <a:ext uri="{FF2B5EF4-FFF2-40B4-BE49-F238E27FC236}">
                <a16:creationId xmlns:a16="http://schemas.microsoft.com/office/drawing/2014/main" id="{B50947A7-128F-E94A-9BFD-F4B3A636052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370" y="3864242"/>
            <a:ext cx="2127993" cy="1418663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532B40F5-0DC0-06A7-65BA-68E795629E4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189" y="5303357"/>
            <a:ext cx="2073070" cy="1509619"/>
          </a:xfrm>
          <a:prstGeom prst="rect">
            <a:avLst/>
          </a:prstGeom>
        </p:spPr>
      </p:pic>
      <p:pic>
        <p:nvPicPr>
          <p:cNvPr id="27" name="Grafik 26">
            <a:extLst>
              <a:ext uri="{FF2B5EF4-FFF2-40B4-BE49-F238E27FC236}">
                <a16:creationId xmlns:a16="http://schemas.microsoft.com/office/drawing/2014/main" id="{F48D02D9-AEE3-8E37-48D2-427205EC512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90128" y="5323442"/>
            <a:ext cx="2018806" cy="1447831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A02CDD33-7BA5-F317-7AE1-ADCA5C3829A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9399" y="5323442"/>
            <a:ext cx="2127993" cy="1418662"/>
          </a:xfrm>
          <a:prstGeom prst="rect">
            <a:avLst/>
          </a:prstGeom>
        </p:spPr>
      </p:pic>
      <p:sp>
        <p:nvSpPr>
          <p:cNvPr id="30" name="Rechteck 29">
            <a:extLst>
              <a:ext uri="{FF2B5EF4-FFF2-40B4-BE49-F238E27FC236}">
                <a16:creationId xmlns:a16="http://schemas.microsoft.com/office/drawing/2014/main" id="{5400616F-F773-A2ED-69EF-1FFBBFDBEDAE}"/>
              </a:ext>
            </a:extLst>
          </p:cNvPr>
          <p:cNvSpPr/>
          <p:nvPr/>
        </p:nvSpPr>
        <p:spPr>
          <a:xfrm>
            <a:off x="401320" y="375704"/>
            <a:ext cx="7366000" cy="320061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D26708C0-99E2-6C56-1992-43865F7BB84B}"/>
              </a:ext>
            </a:extLst>
          </p:cNvPr>
          <p:cNvSpPr/>
          <p:nvPr/>
        </p:nvSpPr>
        <p:spPr>
          <a:xfrm>
            <a:off x="401320" y="3798764"/>
            <a:ext cx="7366000" cy="30091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0A99663D-CC5C-4264-13F2-EC022C6BBFD4}"/>
              </a:ext>
            </a:extLst>
          </p:cNvPr>
          <p:cNvSpPr txBox="1"/>
          <p:nvPr/>
        </p:nvSpPr>
        <p:spPr>
          <a:xfrm>
            <a:off x="8262758" y="5437768"/>
            <a:ext cx="2280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CD3, CD4, CD8, CD16 </a:t>
            </a:r>
          </a:p>
        </p:txBody>
      </p:sp>
    </p:spTree>
    <p:extLst>
      <p:ext uri="{BB962C8B-B14F-4D97-AF65-F5344CB8AC3E}">
        <p14:creationId xmlns:p14="http://schemas.microsoft.com/office/powerpoint/2010/main" val="2276549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feld 14">
            <a:extLst>
              <a:ext uri="{FF2B5EF4-FFF2-40B4-BE49-F238E27FC236}">
                <a16:creationId xmlns:a16="http://schemas.microsoft.com/office/drawing/2014/main" id="{03AC5446-FE1A-DF53-0BF1-5F616182F9B9}"/>
              </a:ext>
            </a:extLst>
          </p:cNvPr>
          <p:cNvSpPr txBox="1"/>
          <p:nvPr/>
        </p:nvSpPr>
        <p:spPr>
          <a:xfrm>
            <a:off x="8407052" y="2075539"/>
            <a:ext cx="25404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 err="1"/>
              <a:t>denoised</a:t>
            </a:r>
            <a:r>
              <a:rPr lang="de-DE" b="1" dirty="0"/>
              <a:t> – </a:t>
            </a:r>
            <a:r>
              <a:rPr lang="de-DE" b="1" dirty="0" err="1"/>
              <a:t>georg</a:t>
            </a:r>
            <a:r>
              <a:rPr lang="de-DE" b="1" dirty="0"/>
              <a:t> </a:t>
            </a:r>
            <a:r>
              <a:rPr lang="de-DE" b="1" dirty="0" err="1"/>
              <a:t>panel</a:t>
            </a:r>
            <a:r>
              <a:rPr lang="de-DE" b="1" dirty="0"/>
              <a:t> </a:t>
            </a:r>
          </a:p>
        </p:txBody>
      </p:sp>
      <p:pic>
        <p:nvPicPr>
          <p:cNvPr id="17" name="Grafik 16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3B73E83E-7731-BC05-9BFB-EF664C8169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614" y="306897"/>
            <a:ext cx="3282322" cy="2414973"/>
          </a:xfrm>
          <a:prstGeom prst="rect">
            <a:avLst/>
          </a:prstGeom>
        </p:spPr>
      </p:pic>
      <p:pic>
        <p:nvPicPr>
          <p:cNvPr id="19" name="Grafik 18">
            <a:extLst>
              <a:ext uri="{FF2B5EF4-FFF2-40B4-BE49-F238E27FC236}">
                <a16:creationId xmlns:a16="http://schemas.microsoft.com/office/drawing/2014/main" id="{35F17010-2007-A2A1-64FA-79F3EE10D0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6046" y="248616"/>
            <a:ext cx="3709880" cy="2473254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3FEF0354-91E5-29E2-EC50-BA5F766D6E2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5981" y="2898850"/>
            <a:ext cx="3658028" cy="2438685"/>
          </a:xfrm>
          <a:prstGeom prst="rect">
            <a:avLst/>
          </a:prstGeom>
        </p:spPr>
      </p:pic>
      <p:pic>
        <p:nvPicPr>
          <p:cNvPr id="23" name="Grafik 22">
            <a:extLst>
              <a:ext uri="{FF2B5EF4-FFF2-40B4-BE49-F238E27FC236}">
                <a16:creationId xmlns:a16="http://schemas.microsoft.com/office/drawing/2014/main" id="{1B7013F3-DC0B-7151-66C1-B72071A1B13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3614" y="2976373"/>
            <a:ext cx="3348900" cy="2438686"/>
          </a:xfrm>
          <a:prstGeom prst="rect">
            <a:avLst/>
          </a:prstGeom>
        </p:spPr>
      </p:pic>
      <p:sp>
        <p:nvSpPr>
          <p:cNvPr id="24" name="Rechteck 23">
            <a:extLst>
              <a:ext uri="{FF2B5EF4-FFF2-40B4-BE49-F238E27FC236}">
                <a16:creationId xmlns:a16="http://schemas.microsoft.com/office/drawing/2014/main" id="{C676B2B6-483E-7444-96C2-EBE861D4A17D}"/>
              </a:ext>
            </a:extLst>
          </p:cNvPr>
          <p:cNvSpPr/>
          <p:nvPr/>
        </p:nvSpPr>
        <p:spPr>
          <a:xfrm>
            <a:off x="401320" y="248616"/>
            <a:ext cx="7693438" cy="529677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6" name="Textfeld 25">
            <a:extLst>
              <a:ext uri="{FF2B5EF4-FFF2-40B4-BE49-F238E27FC236}">
                <a16:creationId xmlns:a16="http://schemas.microsoft.com/office/drawing/2014/main" id="{BA928C64-CC9E-F4F2-D6C9-E2A72D4B2318}"/>
              </a:ext>
            </a:extLst>
          </p:cNvPr>
          <p:cNvSpPr txBox="1"/>
          <p:nvPr/>
        </p:nvSpPr>
        <p:spPr>
          <a:xfrm>
            <a:off x="8407052" y="2517744"/>
            <a:ext cx="31627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CD8, CD14, CD15, CD16, CD62L</a:t>
            </a:r>
          </a:p>
          <a:p>
            <a:r>
              <a:rPr lang="de-DE" dirty="0"/>
              <a:t>(CD10 not in </a:t>
            </a:r>
            <a:r>
              <a:rPr lang="de-DE" dirty="0" err="1"/>
              <a:t>CITEseq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469203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8466EC7D-B2A7-0637-213C-E10227BE08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923" y="175315"/>
            <a:ext cx="1798010" cy="1309320"/>
          </a:xfrm>
          <a:prstGeom prst="rect">
            <a:avLst/>
          </a:prstGeom>
        </p:spPr>
      </p:pic>
      <p:pic>
        <p:nvPicPr>
          <p:cNvPr id="7" name="Grafik 6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D9C94522-277B-13EB-7758-FBBD70CBB8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54653" y="154796"/>
            <a:ext cx="1798010" cy="1343775"/>
          </a:xfrm>
          <a:prstGeom prst="rect">
            <a:avLst/>
          </a:prstGeom>
        </p:spPr>
      </p:pic>
      <p:pic>
        <p:nvPicPr>
          <p:cNvPr id="9" name="Grafik 8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C896291E-651A-AAEA-97FA-C9BB29F2A1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0873" y="134797"/>
            <a:ext cx="2088566" cy="1392377"/>
          </a:xfrm>
          <a:prstGeom prst="rect">
            <a:avLst/>
          </a:prstGeom>
        </p:spPr>
      </p:pic>
      <p:pic>
        <p:nvPicPr>
          <p:cNvPr id="11" name="Grafik 10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6376F8D2-DF73-B2A8-951F-8A459273D1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3143" y="2054239"/>
            <a:ext cx="1743174" cy="1302793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7E7EDE43-9DDB-124C-0E7D-F3F71BEF3CD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57" y="2054241"/>
            <a:ext cx="1738727" cy="1266150"/>
          </a:xfrm>
          <a:prstGeom prst="rect">
            <a:avLst/>
          </a:prstGeom>
        </p:spPr>
      </p:pic>
      <p:pic>
        <p:nvPicPr>
          <p:cNvPr id="15" name="Grafik 14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E451D884-04C2-5188-D773-9D16AA36AD6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3060" y="2054239"/>
            <a:ext cx="1806907" cy="1350425"/>
          </a:xfrm>
          <a:prstGeom prst="rect">
            <a:avLst/>
          </a:prstGeom>
        </p:spPr>
      </p:pic>
      <p:pic>
        <p:nvPicPr>
          <p:cNvPr id="17" name="Grafik 16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59B042E2-D4FF-03FE-B8B4-B3102E5A413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0873" y="2027542"/>
            <a:ext cx="2045661" cy="1363774"/>
          </a:xfrm>
          <a:prstGeom prst="rect">
            <a:avLst/>
          </a:prstGeom>
        </p:spPr>
      </p:pic>
      <p:pic>
        <p:nvPicPr>
          <p:cNvPr id="19" name="Grafik 18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78FF8E7D-AE7B-8151-21D4-79F6BDE3C37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2190" y="3845023"/>
            <a:ext cx="1703061" cy="1266150"/>
          </a:xfrm>
          <a:prstGeom prst="rect">
            <a:avLst/>
          </a:prstGeom>
        </p:spPr>
      </p:pic>
      <p:pic>
        <p:nvPicPr>
          <p:cNvPr id="21" name="Grafik 20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EB7355DB-C659-8EAA-1AAA-2D8743B25387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692" y="3845023"/>
            <a:ext cx="1784541" cy="1333710"/>
          </a:xfrm>
          <a:prstGeom prst="rect">
            <a:avLst/>
          </a:prstGeom>
        </p:spPr>
      </p:pic>
      <p:pic>
        <p:nvPicPr>
          <p:cNvPr id="23" name="Grafik 22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6652EDDC-9B70-C236-3329-2E64196BE302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9568" y="3810000"/>
            <a:ext cx="1917432" cy="1396284"/>
          </a:xfrm>
          <a:prstGeom prst="rect">
            <a:avLst/>
          </a:prstGeom>
        </p:spPr>
      </p:pic>
      <p:pic>
        <p:nvPicPr>
          <p:cNvPr id="25" name="Grafik 24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FC5A84A7-6972-8982-811C-1358006CDD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9595" y="3810000"/>
            <a:ext cx="1866599" cy="1395037"/>
          </a:xfrm>
          <a:prstGeom prst="rect">
            <a:avLst/>
          </a:prstGeom>
        </p:spPr>
      </p:pic>
      <p:pic>
        <p:nvPicPr>
          <p:cNvPr id="27" name="Grafik 26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72C31DFB-E218-AD48-A62A-9941BD4DD25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0954" y="3763996"/>
            <a:ext cx="2177842" cy="1451895"/>
          </a:xfrm>
          <a:prstGeom prst="rect">
            <a:avLst/>
          </a:prstGeom>
        </p:spPr>
      </p:pic>
      <p:pic>
        <p:nvPicPr>
          <p:cNvPr id="29" name="Grafik 28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E8EF69BD-A4E5-F7A2-C2EC-1686B2C21CD3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57" y="5240867"/>
            <a:ext cx="1735705" cy="1297211"/>
          </a:xfrm>
          <a:prstGeom prst="rect">
            <a:avLst/>
          </a:prstGeom>
        </p:spPr>
      </p:pic>
      <p:pic>
        <p:nvPicPr>
          <p:cNvPr id="31" name="Grafik 30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54D10455-E540-23E9-B6F7-FEC6EF3FC01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4057" y="5205038"/>
            <a:ext cx="1866600" cy="1395038"/>
          </a:xfrm>
          <a:prstGeom prst="rect">
            <a:avLst/>
          </a:prstGeom>
        </p:spPr>
      </p:pic>
      <p:pic>
        <p:nvPicPr>
          <p:cNvPr id="33" name="Grafik 32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90BDF9FD-FDFF-CD47-A95F-9BBD1ADEEF6F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9568" y="5205037"/>
            <a:ext cx="1917432" cy="1433028"/>
          </a:xfrm>
          <a:prstGeom prst="rect">
            <a:avLst/>
          </a:prstGeom>
        </p:spPr>
      </p:pic>
      <p:pic>
        <p:nvPicPr>
          <p:cNvPr id="35" name="Grafik 34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AA2210C2-F9D5-5AB3-7C3E-D75085B673D9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5911" y="5215891"/>
            <a:ext cx="1907917" cy="1422174"/>
          </a:xfrm>
          <a:prstGeom prst="rect">
            <a:avLst/>
          </a:prstGeom>
        </p:spPr>
      </p:pic>
      <p:pic>
        <p:nvPicPr>
          <p:cNvPr id="37" name="Grafik 36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A6D017BA-17E3-75C6-D73F-3896D0424ED8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30954" y="5186170"/>
            <a:ext cx="2177842" cy="1451895"/>
          </a:xfrm>
          <a:prstGeom prst="rect">
            <a:avLst/>
          </a:prstGeom>
        </p:spPr>
      </p:pic>
      <p:sp>
        <p:nvSpPr>
          <p:cNvPr id="38" name="Rechteck 37">
            <a:extLst>
              <a:ext uri="{FF2B5EF4-FFF2-40B4-BE49-F238E27FC236}">
                <a16:creationId xmlns:a16="http://schemas.microsoft.com/office/drawing/2014/main" id="{5FB1AC7D-6979-5EB5-737A-7C6D38C0AFC4}"/>
              </a:ext>
            </a:extLst>
          </p:cNvPr>
          <p:cNvSpPr/>
          <p:nvPr/>
        </p:nvSpPr>
        <p:spPr>
          <a:xfrm>
            <a:off x="452119" y="119775"/>
            <a:ext cx="9411547" cy="33769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9" name="Rechteck 38">
            <a:extLst>
              <a:ext uri="{FF2B5EF4-FFF2-40B4-BE49-F238E27FC236}">
                <a16:creationId xmlns:a16="http://schemas.microsoft.com/office/drawing/2014/main" id="{336DD94C-CB24-51CD-9348-ACA5B5F47BB1}"/>
              </a:ext>
            </a:extLst>
          </p:cNvPr>
          <p:cNvSpPr/>
          <p:nvPr/>
        </p:nvSpPr>
        <p:spPr>
          <a:xfrm>
            <a:off x="452119" y="3637301"/>
            <a:ext cx="10376748" cy="31317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0" name="Textfeld 39">
            <a:extLst>
              <a:ext uri="{FF2B5EF4-FFF2-40B4-BE49-F238E27FC236}">
                <a16:creationId xmlns:a16="http://schemas.microsoft.com/office/drawing/2014/main" id="{C5695B42-B7B2-696F-47CD-09E24C420F13}"/>
              </a:ext>
            </a:extLst>
          </p:cNvPr>
          <p:cNvSpPr txBox="1"/>
          <p:nvPr/>
        </p:nvSpPr>
        <p:spPr>
          <a:xfrm>
            <a:off x="10077450" y="1075084"/>
            <a:ext cx="15028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 err="1"/>
              <a:t>raw</a:t>
            </a:r>
            <a:r>
              <a:rPr lang="de-DE" b="1" dirty="0"/>
              <a:t> </a:t>
            </a:r>
            <a:r>
              <a:rPr lang="de-DE" b="1" dirty="0" err="1"/>
              <a:t>data</a:t>
            </a:r>
            <a:r>
              <a:rPr lang="de-DE" b="1" dirty="0"/>
              <a:t> – </a:t>
            </a:r>
            <a:r>
              <a:rPr lang="de-DE" b="1" dirty="0" err="1"/>
              <a:t>full</a:t>
            </a:r>
            <a:r>
              <a:rPr lang="de-DE" b="1" dirty="0"/>
              <a:t> </a:t>
            </a:r>
            <a:r>
              <a:rPr lang="de-DE" b="1" dirty="0" err="1"/>
              <a:t>panel</a:t>
            </a:r>
            <a:r>
              <a:rPr lang="de-DE" b="1" dirty="0"/>
              <a:t> </a:t>
            </a:r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D8390A0B-DC54-8CC9-CF10-EDF397541C8F}"/>
              </a:ext>
            </a:extLst>
          </p:cNvPr>
          <p:cNvSpPr txBox="1"/>
          <p:nvPr/>
        </p:nvSpPr>
        <p:spPr>
          <a:xfrm>
            <a:off x="10804086" y="4569560"/>
            <a:ext cx="15028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 err="1"/>
              <a:t>raw</a:t>
            </a:r>
            <a:r>
              <a:rPr lang="de-DE" b="1" dirty="0"/>
              <a:t> </a:t>
            </a:r>
            <a:r>
              <a:rPr lang="de-DE" b="1" dirty="0" err="1"/>
              <a:t>data</a:t>
            </a:r>
            <a:r>
              <a:rPr lang="de-DE" b="1" dirty="0"/>
              <a:t> – </a:t>
            </a:r>
            <a:r>
              <a:rPr lang="de-DE" b="1" dirty="0" err="1"/>
              <a:t>minimum</a:t>
            </a:r>
            <a:r>
              <a:rPr lang="de-DE" b="1" dirty="0"/>
              <a:t> </a:t>
            </a:r>
            <a:r>
              <a:rPr lang="de-DE" b="1" dirty="0" err="1"/>
              <a:t>panel</a:t>
            </a:r>
            <a:endParaRPr lang="de-DE" b="1" dirty="0"/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51AAB617-045C-9E62-5F30-CD897BDA5902}"/>
              </a:ext>
            </a:extLst>
          </p:cNvPr>
          <p:cNvSpPr txBox="1"/>
          <p:nvPr/>
        </p:nvSpPr>
        <p:spPr>
          <a:xfrm>
            <a:off x="10908796" y="5419146"/>
            <a:ext cx="12824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CD3, CD4, CD8, CD16 </a:t>
            </a:r>
          </a:p>
        </p:txBody>
      </p:sp>
    </p:spTree>
    <p:extLst>
      <p:ext uri="{BB962C8B-B14F-4D97-AF65-F5344CB8AC3E}">
        <p14:creationId xmlns:p14="http://schemas.microsoft.com/office/powerpoint/2010/main" val="39485897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D21605D3-E450-4A0F-CA02-246AA37473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9778" y="210068"/>
            <a:ext cx="3063099" cy="2042066"/>
          </a:xfrm>
          <a:prstGeom prst="rect">
            <a:avLst/>
          </a:prstGeom>
        </p:spPr>
      </p:pic>
      <p:pic>
        <p:nvPicPr>
          <p:cNvPr id="7" name="Grafik 6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07A85B5C-01B6-EBC7-C5F7-05397638BA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77" y="277224"/>
            <a:ext cx="2698116" cy="1974909"/>
          </a:xfrm>
          <a:prstGeom prst="rect">
            <a:avLst/>
          </a:prstGeom>
        </p:spPr>
      </p:pic>
      <p:pic>
        <p:nvPicPr>
          <p:cNvPr id="9" name="Grafik 8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52F32490-26A7-ECFE-5892-F86D5BFBD9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4377" y="4703744"/>
            <a:ext cx="2916282" cy="1944188"/>
          </a:xfrm>
          <a:prstGeom prst="rect">
            <a:avLst/>
          </a:prstGeom>
        </p:spPr>
      </p:pic>
      <p:pic>
        <p:nvPicPr>
          <p:cNvPr id="11" name="Grafik 10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DDDDDD2F-54C8-601A-4EBC-1F78108C06D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1787" y="2675229"/>
            <a:ext cx="2487635" cy="1859180"/>
          </a:xfrm>
          <a:prstGeom prst="rect">
            <a:avLst/>
          </a:prstGeom>
        </p:spPr>
      </p:pic>
      <p:pic>
        <p:nvPicPr>
          <p:cNvPr id="13" name="Grafik 12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919BA894-39D6-AFA7-B263-8E00416E510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7442" y="2675228"/>
            <a:ext cx="2585776" cy="1882975"/>
          </a:xfrm>
          <a:prstGeom prst="rect">
            <a:avLst/>
          </a:prstGeom>
        </p:spPr>
      </p:pic>
      <p:pic>
        <p:nvPicPr>
          <p:cNvPr id="15" name="Grafik 14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04C5742F-FE9E-1DD4-F3E4-E92E970432D5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0053" y="2703379"/>
            <a:ext cx="2585776" cy="1902488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7C674CDE-411D-374E-59F5-8CBCF7FD75F7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771" y="4712064"/>
            <a:ext cx="2487635" cy="1811508"/>
          </a:xfrm>
          <a:prstGeom prst="rect">
            <a:avLst/>
          </a:prstGeom>
        </p:spPr>
      </p:pic>
      <p:pic>
        <p:nvPicPr>
          <p:cNvPr id="19" name="Grafik 18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EDD654E2-13CC-C2CD-7A80-6C62EF6A64E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7442" y="4712064"/>
            <a:ext cx="2625558" cy="1882976"/>
          </a:xfrm>
          <a:prstGeom prst="rect">
            <a:avLst/>
          </a:prstGeom>
        </p:spPr>
      </p:pic>
      <p:sp>
        <p:nvSpPr>
          <p:cNvPr id="20" name="Rechteck 19">
            <a:extLst>
              <a:ext uri="{FF2B5EF4-FFF2-40B4-BE49-F238E27FC236}">
                <a16:creationId xmlns:a16="http://schemas.microsoft.com/office/drawing/2014/main" id="{FD292748-D804-B7FF-64D5-1EE4067C2634}"/>
              </a:ext>
            </a:extLst>
          </p:cNvPr>
          <p:cNvSpPr/>
          <p:nvPr/>
        </p:nvSpPr>
        <p:spPr>
          <a:xfrm>
            <a:off x="452119" y="119774"/>
            <a:ext cx="8808721" cy="66417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0AA35650-2251-4FE9-E949-6341B2C16150}"/>
              </a:ext>
            </a:extLst>
          </p:cNvPr>
          <p:cNvSpPr txBox="1"/>
          <p:nvPr/>
        </p:nvSpPr>
        <p:spPr>
          <a:xfrm>
            <a:off x="9517675" y="2827120"/>
            <a:ext cx="15657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 err="1"/>
              <a:t>raw</a:t>
            </a:r>
            <a:r>
              <a:rPr lang="de-DE" b="1" dirty="0"/>
              <a:t> </a:t>
            </a:r>
            <a:r>
              <a:rPr lang="de-DE" b="1" dirty="0" err="1"/>
              <a:t>data</a:t>
            </a:r>
            <a:r>
              <a:rPr lang="de-DE" b="1" dirty="0"/>
              <a:t> – </a:t>
            </a:r>
            <a:r>
              <a:rPr lang="de-DE" b="1" dirty="0" err="1"/>
              <a:t>georg</a:t>
            </a:r>
            <a:r>
              <a:rPr lang="de-DE" b="1" dirty="0"/>
              <a:t> </a:t>
            </a:r>
            <a:r>
              <a:rPr lang="de-DE" b="1" dirty="0" err="1"/>
              <a:t>panel</a:t>
            </a:r>
            <a:endParaRPr lang="de-DE" b="1" dirty="0"/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9DD64A12-C5C9-C37E-FF93-41879FBA14A7}"/>
              </a:ext>
            </a:extLst>
          </p:cNvPr>
          <p:cNvSpPr txBox="1"/>
          <p:nvPr/>
        </p:nvSpPr>
        <p:spPr>
          <a:xfrm>
            <a:off x="9346853" y="3634873"/>
            <a:ext cx="259114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CD8, CD14, CD15, CD16, CD62L</a:t>
            </a:r>
          </a:p>
          <a:p>
            <a:r>
              <a:rPr lang="de-DE" dirty="0"/>
              <a:t>(CD10 not in </a:t>
            </a:r>
            <a:r>
              <a:rPr lang="de-DE" dirty="0" err="1"/>
              <a:t>CITEseq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2479502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33A2D0C7-43DE-9B31-560E-2A44B88EB56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84" t="15875" r="37542" b="7307"/>
          <a:stretch/>
        </p:blipFill>
        <p:spPr>
          <a:xfrm>
            <a:off x="955040" y="909321"/>
            <a:ext cx="4556760" cy="5146040"/>
          </a:xfrm>
          <a:prstGeom prst="rect">
            <a:avLst/>
          </a:prstGeom>
        </p:spPr>
      </p:pic>
      <p:pic>
        <p:nvPicPr>
          <p:cNvPr id="6" name="Grafik 5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F356B9E1-A5C9-EA24-F83F-E0915CB2933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00" t="16027" r="37625" b="7154"/>
          <a:stretch/>
        </p:blipFill>
        <p:spPr>
          <a:xfrm>
            <a:off x="6297299" y="909321"/>
            <a:ext cx="4709701" cy="5318759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97098E15-0B65-CB18-AC3F-D115FF87DE0D}"/>
              </a:ext>
            </a:extLst>
          </p:cNvPr>
          <p:cNvSpPr txBox="1"/>
          <p:nvPr/>
        </p:nvSpPr>
        <p:spPr>
          <a:xfrm>
            <a:off x="5303520" y="83066"/>
            <a:ext cx="1595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Celltype</a:t>
            </a:r>
            <a:r>
              <a:rPr lang="de-DE" dirty="0"/>
              <a:t> </a:t>
            </a:r>
            <a:r>
              <a:rPr lang="de-DE" dirty="0" err="1"/>
              <a:t>wise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253942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D09C6EB1-40D0-416C-28A1-1DF8ADDE4F6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875" t="15269" r="31334" b="6927"/>
          <a:stretch/>
        </p:blipFill>
        <p:spPr>
          <a:xfrm>
            <a:off x="208279" y="1719580"/>
            <a:ext cx="3981981" cy="3418839"/>
          </a:xfrm>
          <a:prstGeom prst="rect">
            <a:avLst/>
          </a:prstGeom>
        </p:spPr>
      </p:pic>
      <p:pic>
        <p:nvPicPr>
          <p:cNvPr id="6" name="Grafik 5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3FA94E5E-DFF0-62CD-8ECD-85D60A7DACA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917" t="15724" r="31542" b="6776"/>
          <a:stretch/>
        </p:blipFill>
        <p:spPr>
          <a:xfrm>
            <a:off x="4190260" y="1719580"/>
            <a:ext cx="3977495" cy="3418839"/>
          </a:xfrm>
          <a:prstGeom prst="rect">
            <a:avLst/>
          </a:prstGeom>
        </p:spPr>
      </p:pic>
      <p:pic>
        <p:nvPicPr>
          <p:cNvPr id="9" name="Grafik 8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DD147816-FDAC-8891-F456-64EB49F335E2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00" t="15572" r="31500" b="7079"/>
          <a:stretch/>
        </p:blipFill>
        <p:spPr>
          <a:xfrm>
            <a:off x="8210058" y="1719580"/>
            <a:ext cx="3981942" cy="3418839"/>
          </a:xfrm>
          <a:prstGeom prst="rect">
            <a:avLst/>
          </a:prstGeom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E0F8F01D-758A-CBAE-2487-8EAB2BE219F5}"/>
              </a:ext>
            </a:extLst>
          </p:cNvPr>
          <p:cNvSpPr txBox="1"/>
          <p:nvPr/>
        </p:nvSpPr>
        <p:spPr>
          <a:xfrm>
            <a:off x="4883433" y="5235073"/>
            <a:ext cx="259114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CD8, CD14, CD15, CD16, CD62L</a:t>
            </a:r>
          </a:p>
          <a:p>
            <a:r>
              <a:rPr lang="de-DE" dirty="0"/>
              <a:t>(CD10 not in </a:t>
            </a:r>
            <a:r>
              <a:rPr lang="de-DE" dirty="0" err="1"/>
              <a:t>CITEseq</a:t>
            </a:r>
            <a:r>
              <a:rPr lang="de-DE" dirty="0"/>
              <a:t>)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DCF5E66E-5750-6779-D485-416FBC2F2745}"/>
              </a:ext>
            </a:extLst>
          </p:cNvPr>
          <p:cNvSpPr txBox="1"/>
          <p:nvPr/>
        </p:nvSpPr>
        <p:spPr>
          <a:xfrm>
            <a:off x="9060576" y="5235073"/>
            <a:ext cx="2280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CD3, CD4, CD8, CD16 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F6C7F08-35D2-5383-A9D9-65E5F2FC9284}"/>
              </a:ext>
            </a:extLst>
          </p:cNvPr>
          <p:cNvSpPr txBox="1"/>
          <p:nvPr/>
        </p:nvSpPr>
        <p:spPr>
          <a:xfrm>
            <a:off x="850519" y="5327406"/>
            <a:ext cx="228090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all</a:t>
            </a:r>
          </a:p>
        </p:txBody>
      </p:sp>
    </p:spTree>
    <p:extLst>
      <p:ext uri="{BB962C8B-B14F-4D97-AF65-F5344CB8AC3E}">
        <p14:creationId xmlns:p14="http://schemas.microsoft.com/office/powerpoint/2010/main" val="18042963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CCD777D3-3D79-8F4F-A012-E3A4813D801D}"/>
              </a:ext>
            </a:extLst>
          </p:cNvPr>
          <p:cNvSpPr txBox="1"/>
          <p:nvPr/>
        </p:nvSpPr>
        <p:spPr>
          <a:xfrm>
            <a:off x="838200" y="762000"/>
            <a:ext cx="430953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Preprocess</a:t>
            </a:r>
            <a:r>
              <a:rPr lang="de-DE" dirty="0"/>
              <a:t>:      01_pp_script.py</a:t>
            </a:r>
          </a:p>
          <a:p>
            <a:r>
              <a:rPr lang="de-DE" dirty="0"/>
              <a:t>	         02_pp_script.py</a:t>
            </a:r>
          </a:p>
          <a:p>
            <a:r>
              <a:rPr lang="de-DE" dirty="0"/>
              <a:t>Subsampling:   03_subsample.py</a:t>
            </a:r>
          </a:p>
          <a:p>
            <a:r>
              <a:rPr lang="de-DE" dirty="0" err="1"/>
              <a:t>Gating</a:t>
            </a:r>
            <a:r>
              <a:rPr lang="de-DE" dirty="0"/>
              <a:t>: 04_run_gating (</a:t>
            </a:r>
            <a:r>
              <a:rPr lang="de-DE" dirty="0" err="1"/>
              <a:t>self-explaining</a:t>
            </a:r>
            <a:r>
              <a:rPr lang="de-DE" dirty="0"/>
              <a:t>)</a:t>
            </a:r>
          </a:p>
          <a:p>
            <a:r>
              <a:rPr lang="de-DE" dirty="0" err="1"/>
              <a:t>Subsample_factor</a:t>
            </a:r>
            <a:r>
              <a:rPr lang="de-DE"/>
              <a:t>: 15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907353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DF06D156-DEFA-4BFB-C5A7-BF539C181E3D}"/>
              </a:ext>
            </a:extLst>
          </p:cNvPr>
          <p:cNvSpPr txBox="1"/>
          <p:nvPr/>
        </p:nvSpPr>
        <p:spPr>
          <a:xfrm>
            <a:off x="3256280" y="1935480"/>
            <a:ext cx="725424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6600" dirty="0" err="1"/>
              <a:t>CyTOF</a:t>
            </a:r>
            <a:endParaRPr lang="de-DE" sz="16600" dirty="0"/>
          </a:p>
        </p:txBody>
      </p:sp>
    </p:spTree>
    <p:extLst>
      <p:ext uri="{BB962C8B-B14F-4D97-AF65-F5344CB8AC3E}">
        <p14:creationId xmlns:p14="http://schemas.microsoft.com/office/powerpoint/2010/main" val="11442589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EDD04CD5-C80B-B68B-2EDD-EB4B7AAA52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601" y="900702"/>
            <a:ext cx="2286346" cy="1708744"/>
          </a:xfrm>
          <a:prstGeom prst="rect">
            <a:avLst/>
          </a:prstGeom>
        </p:spPr>
      </p:pic>
      <p:pic>
        <p:nvPicPr>
          <p:cNvPr id="5" name="Grafik 4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449A1A23-A6BF-90EC-FFFF-3473A13882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9759" y="931628"/>
            <a:ext cx="2322448" cy="1708744"/>
          </a:xfrm>
          <a:prstGeom prst="rect">
            <a:avLst/>
          </a:prstGeom>
        </p:spPr>
      </p:pic>
      <p:pic>
        <p:nvPicPr>
          <p:cNvPr id="6" name="Grafik 5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51343E4C-25B9-EC2D-0DE5-BE81D4F08D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3851" y="870616"/>
            <a:ext cx="2609505" cy="1739670"/>
          </a:xfrm>
          <a:prstGeom prst="rect">
            <a:avLst/>
          </a:prstGeom>
        </p:spPr>
      </p:pic>
      <p:pic>
        <p:nvPicPr>
          <p:cNvPr id="7" name="Grafik 6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FA26AF34-198E-9D65-FCB1-F1C56206F89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3997" y="3210433"/>
            <a:ext cx="2572559" cy="1715039"/>
          </a:xfrm>
          <a:prstGeom prst="rect">
            <a:avLst/>
          </a:prstGeom>
        </p:spPr>
      </p:pic>
      <p:pic>
        <p:nvPicPr>
          <p:cNvPr id="8" name="Grafik 7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066F9753-5301-EDFB-5582-FFE18B6299B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762" y="3254419"/>
            <a:ext cx="2322449" cy="1691219"/>
          </a:xfrm>
          <a:prstGeom prst="rect">
            <a:avLst/>
          </a:prstGeom>
        </p:spPr>
      </p:pic>
      <p:pic>
        <p:nvPicPr>
          <p:cNvPr id="9" name="Grafik 8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4A27043A-A29F-467C-377F-FE880B30C19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79308" y="3254419"/>
            <a:ext cx="2262899" cy="1691219"/>
          </a:xfrm>
          <a:prstGeom prst="rect">
            <a:avLst/>
          </a:prstGeom>
        </p:spPr>
      </p:pic>
      <p:pic>
        <p:nvPicPr>
          <p:cNvPr id="10" name="Grafik 9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927A4CE5-C77E-125E-ABCE-9D046490BA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3802" y="3254419"/>
            <a:ext cx="2322449" cy="1691219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BD748C1D-6D2A-3661-26EB-14A93F919862}"/>
              </a:ext>
            </a:extLst>
          </p:cNvPr>
          <p:cNvSpPr txBox="1"/>
          <p:nvPr/>
        </p:nvSpPr>
        <p:spPr>
          <a:xfrm>
            <a:off x="656448" y="5351218"/>
            <a:ext cx="4464977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 err="1"/>
              <a:t>notebook</a:t>
            </a:r>
            <a:r>
              <a:rPr lang="de-DE" sz="1400" dirty="0"/>
              <a:t>: </a:t>
            </a:r>
            <a:r>
              <a:rPr lang="de-DE" sz="1400" dirty="0" err="1"/>
              <a:t>gating</a:t>
            </a:r>
            <a:r>
              <a:rPr lang="de-DE" sz="1400" dirty="0"/>
              <a:t>/Paper/</a:t>
            </a:r>
            <a:r>
              <a:rPr lang="de-DE" sz="1400" dirty="0" err="1"/>
              <a:t>covid</a:t>
            </a:r>
            <a:r>
              <a:rPr lang="de-DE" sz="1400" dirty="0"/>
              <a:t>/01_get_data.ipynb</a:t>
            </a:r>
          </a:p>
          <a:p>
            <a:r>
              <a:rPr lang="de-DE" sz="1400" dirty="0" err="1"/>
              <a:t>notebook</a:t>
            </a:r>
            <a:r>
              <a:rPr lang="de-DE" sz="1400" dirty="0"/>
              <a:t>: gating/Paper/</a:t>
            </a:r>
            <a:r>
              <a:rPr lang="de-DE" sz="1400" dirty="0" err="1"/>
              <a:t>covid</a:t>
            </a:r>
            <a:r>
              <a:rPr lang="de-DE" sz="1400" dirty="0"/>
              <a:t>/02_run_gating.ipynb</a:t>
            </a:r>
          </a:p>
          <a:p>
            <a:r>
              <a:rPr lang="de-DE" sz="1400" dirty="0" err="1"/>
              <a:t>results</a:t>
            </a:r>
            <a:r>
              <a:rPr lang="de-DE" sz="1400" dirty="0"/>
              <a:t>: </a:t>
            </a:r>
            <a:r>
              <a:rPr lang="de-DE" sz="1400" dirty="0" err="1"/>
              <a:t>gating</a:t>
            </a:r>
            <a:r>
              <a:rPr lang="de-DE" sz="1400" dirty="0"/>
              <a:t>/Paper/</a:t>
            </a:r>
            <a:r>
              <a:rPr lang="de-DE" sz="1400" dirty="0" err="1"/>
              <a:t>results</a:t>
            </a:r>
            <a:r>
              <a:rPr lang="de-DE" sz="1400" dirty="0"/>
              <a:t>/02_cluster_C&lt;8|26&gt;</a:t>
            </a:r>
          </a:p>
          <a:p>
            <a:r>
              <a:rPr lang="de-DE" sz="1400" dirty="0"/>
              <a:t>Original in </a:t>
            </a:r>
            <a:r>
              <a:rPr lang="de-DE" sz="1400" dirty="0" err="1"/>
              <a:t>cluster</a:t>
            </a:r>
            <a:r>
              <a:rPr lang="de-DE" sz="1400" dirty="0"/>
              <a:t>: </a:t>
            </a:r>
            <a:r>
              <a:rPr lang="de-DE" sz="1400" dirty="0" err="1">
                <a:solidFill>
                  <a:prstClr val="black"/>
                </a:solidFill>
                <a:latin typeface="Lucida Console" panose="020B0609040504020204" pitchFamily="49" charset="0"/>
              </a:rPr>
              <a:t>projects</a:t>
            </a:r>
            <a:r>
              <a:rPr lang="de-DE" sz="1400" dirty="0">
                <a:solidFill>
                  <a:prstClr val="black"/>
                </a:solidFill>
                <a:latin typeface="Lucida Console" panose="020B0609040504020204" pitchFamily="49" charset="0"/>
              </a:rPr>
              <a:t>/</a:t>
            </a:r>
            <a:r>
              <a:rPr lang="de-DE" sz="1400" dirty="0" err="1">
                <a:solidFill>
                  <a:prstClr val="black"/>
                </a:solidFill>
                <a:latin typeface="Lucida Console" panose="020B0609040504020204" pitchFamily="49" charset="0"/>
              </a:rPr>
              <a:t>gating</a:t>
            </a:r>
            <a:r>
              <a:rPr lang="de-DE" sz="1400" dirty="0">
                <a:solidFill>
                  <a:prstClr val="black"/>
                </a:solidFill>
                <a:latin typeface="Lucida Console" panose="020B0609040504020204" pitchFamily="49" charset="0"/>
              </a:rPr>
              <a:t>/</a:t>
            </a:r>
            <a:r>
              <a:rPr lang="de-DE" sz="1400" dirty="0" err="1">
                <a:solidFill>
                  <a:prstClr val="black"/>
                </a:solidFill>
                <a:latin typeface="Lucida Console" panose="020B0609040504020204" pitchFamily="49" charset="0"/>
              </a:rPr>
              <a:t>data</a:t>
            </a:r>
            <a:r>
              <a:rPr lang="de-DE" sz="1400" dirty="0">
                <a:solidFill>
                  <a:prstClr val="black"/>
                </a:solidFill>
                <a:latin typeface="Lucida Console" panose="020B0609040504020204" pitchFamily="49" charset="0"/>
              </a:rPr>
              <a:t>/</a:t>
            </a:r>
            <a:r>
              <a:rPr lang="de-DE" sz="1400" dirty="0" err="1">
                <a:solidFill>
                  <a:prstClr val="black"/>
                </a:solidFill>
                <a:latin typeface="Lucida Console" panose="020B0609040504020204" pitchFamily="49" charset="0"/>
              </a:rPr>
              <a:t>covid</a:t>
            </a:r>
            <a:endParaRPr lang="de-DE" sz="1400" dirty="0">
              <a:solidFill>
                <a:prstClr val="black"/>
              </a:solidFill>
              <a:latin typeface="Lucida Console" panose="020B0609040504020204" pitchFamily="49" charset="0"/>
            </a:endParaRPr>
          </a:p>
          <a:p>
            <a:r>
              <a:rPr lang="de-DE" sz="1400" dirty="0" err="1">
                <a:solidFill>
                  <a:prstClr val="black"/>
                </a:solidFill>
                <a:latin typeface="Lucida Console" panose="020B0609040504020204" pitchFamily="49" charset="0"/>
              </a:rPr>
              <a:t>subsampling</a:t>
            </a:r>
            <a:r>
              <a:rPr lang="de-DE" sz="1400" dirty="0">
                <a:solidFill>
                  <a:prstClr val="black"/>
                </a:solidFill>
                <a:latin typeface="Lucida Console" panose="020B0609040504020204" pitchFamily="49" charset="0"/>
              </a:rPr>
              <a:t> </a:t>
            </a:r>
            <a:r>
              <a:rPr lang="de-DE" sz="1400" dirty="0" err="1">
                <a:solidFill>
                  <a:prstClr val="black"/>
                </a:solidFill>
                <a:latin typeface="Lucida Console" panose="020B0609040504020204" pitchFamily="49" charset="0"/>
              </a:rPr>
              <a:t>factor</a:t>
            </a:r>
            <a:r>
              <a:rPr lang="de-DE" sz="1400" dirty="0">
                <a:solidFill>
                  <a:prstClr val="black"/>
                </a:solidFill>
                <a:latin typeface="Lucida Console" panose="020B0609040504020204" pitchFamily="49" charset="0"/>
              </a:rPr>
              <a:t> 15</a:t>
            </a:r>
          </a:p>
          <a:p>
            <a:endParaRPr lang="de-DE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7C2A59A5-4B9E-11B3-0B64-88761F4A56FA}"/>
              </a:ext>
            </a:extLst>
          </p:cNvPr>
          <p:cNvSpPr/>
          <p:nvPr/>
        </p:nvSpPr>
        <p:spPr>
          <a:xfrm>
            <a:off x="533728" y="745648"/>
            <a:ext cx="8257071" cy="204464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810935B-575D-4FC4-210C-5E1736A7633F}"/>
              </a:ext>
            </a:extLst>
          </p:cNvPr>
          <p:cNvSpPr/>
          <p:nvPr/>
        </p:nvSpPr>
        <p:spPr>
          <a:xfrm>
            <a:off x="533727" y="3131722"/>
            <a:ext cx="10458696" cy="18700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0633E183-56F7-023C-9858-D3C2F06A6167}"/>
              </a:ext>
            </a:extLst>
          </p:cNvPr>
          <p:cNvSpPr txBox="1"/>
          <p:nvPr/>
        </p:nvSpPr>
        <p:spPr>
          <a:xfrm>
            <a:off x="8905672" y="1636501"/>
            <a:ext cx="757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C8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4F260433-F278-818F-29D4-60DFAFD85DC3}"/>
              </a:ext>
            </a:extLst>
          </p:cNvPr>
          <p:cNvSpPr txBox="1"/>
          <p:nvPr/>
        </p:nvSpPr>
        <p:spPr>
          <a:xfrm>
            <a:off x="11071458" y="3963054"/>
            <a:ext cx="757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C26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CFEC176D-8C80-A21F-9FE8-9B65D81E423E}"/>
              </a:ext>
            </a:extLst>
          </p:cNvPr>
          <p:cNvSpPr txBox="1"/>
          <p:nvPr/>
        </p:nvSpPr>
        <p:spPr>
          <a:xfrm>
            <a:off x="4700766" y="212808"/>
            <a:ext cx="23939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Georg </a:t>
            </a:r>
            <a:r>
              <a:rPr lang="de-DE" dirty="0" err="1"/>
              <a:t>CyTOF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085556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fik 3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11CADDFD-E418-5AAD-0B19-38D59DDD6D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66546" y="139437"/>
            <a:ext cx="2702026" cy="1801351"/>
          </a:xfrm>
          <a:prstGeom prst="rect">
            <a:avLst/>
          </a:prstGeom>
        </p:spPr>
      </p:pic>
      <p:pic>
        <p:nvPicPr>
          <p:cNvPr id="5" name="Grafik 4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76BF05AE-E411-D035-A491-0FF85BCEE0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67" y="233428"/>
            <a:ext cx="2376782" cy="1776332"/>
          </a:xfrm>
          <a:prstGeom prst="rect">
            <a:avLst/>
          </a:prstGeom>
        </p:spPr>
      </p:pic>
      <p:pic>
        <p:nvPicPr>
          <p:cNvPr id="6" name="Grafik 5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641EFA14-7CB1-2E28-AB1D-AA14282D11C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8865" y="233428"/>
            <a:ext cx="2376782" cy="1776332"/>
          </a:xfrm>
          <a:prstGeom prst="rect">
            <a:avLst/>
          </a:prstGeom>
        </p:spPr>
      </p:pic>
      <p:pic>
        <p:nvPicPr>
          <p:cNvPr id="7" name="Grafik 6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FF99913C-7F33-FB36-A85F-5F0C804A5A4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176" y="233428"/>
            <a:ext cx="2376782" cy="1776332"/>
          </a:xfrm>
          <a:prstGeom prst="rect">
            <a:avLst/>
          </a:prstGeom>
        </p:spPr>
      </p:pic>
      <p:pic>
        <p:nvPicPr>
          <p:cNvPr id="8" name="Grafik 7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885CAAA7-776B-4C03-11E3-AC0A72A4641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0582" y="233428"/>
            <a:ext cx="2376782" cy="1776332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BB44857C-1D07-911B-1C36-8C18E82DEF26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96912" y="2231446"/>
            <a:ext cx="2702028" cy="1801352"/>
          </a:xfrm>
          <a:prstGeom prst="rect">
            <a:avLst/>
          </a:prstGeom>
        </p:spPr>
      </p:pic>
      <p:pic>
        <p:nvPicPr>
          <p:cNvPr id="10" name="Grafik 9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571B072B-064F-64BC-4D78-898993F05DF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97" y="2274990"/>
            <a:ext cx="2376784" cy="1776333"/>
          </a:xfrm>
          <a:prstGeom prst="rect">
            <a:avLst/>
          </a:prstGeom>
        </p:spPr>
      </p:pic>
      <p:pic>
        <p:nvPicPr>
          <p:cNvPr id="11" name="Grafik 10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3CA84B56-4816-A7F9-ED0B-2D40D3C17CE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0128" y="2274989"/>
            <a:ext cx="2376784" cy="1776333"/>
          </a:xfrm>
          <a:prstGeom prst="rect">
            <a:avLst/>
          </a:prstGeom>
        </p:spPr>
      </p:pic>
      <p:sp>
        <p:nvSpPr>
          <p:cNvPr id="12" name="Rechteck 11">
            <a:extLst>
              <a:ext uri="{FF2B5EF4-FFF2-40B4-BE49-F238E27FC236}">
                <a16:creationId xmlns:a16="http://schemas.microsoft.com/office/drawing/2014/main" id="{9378A1CD-B789-373E-0852-01987CDC88D5}"/>
              </a:ext>
            </a:extLst>
          </p:cNvPr>
          <p:cNvSpPr/>
          <p:nvPr/>
        </p:nvSpPr>
        <p:spPr>
          <a:xfrm>
            <a:off x="65267" y="70465"/>
            <a:ext cx="12061466" cy="193929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84B74A8B-D1D4-3C9C-4B10-9B9D10DFB0CE}"/>
              </a:ext>
            </a:extLst>
          </p:cNvPr>
          <p:cNvSpPr/>
          <p:nvPr/>
        </p:nvSpPr>
        <p:spPr>
          <a:xfrm>
            <a:off x="65267" y="2231445"/>
            <a:ext cx="7533673" cy="18700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01EB05F-C56B-9A26-5BC2-2B363A1E05AF}"/>
              </a:ext>
            </a:extLst>
          </p:cNvPr>
          <p:cNvSpPr txBox="1"/>
          <p:nvPr/>
        </p:nvSpPr>
        <p:spPr>
          <a:xfrm>
            <a:off x="10488337" y="2005190"/>
            <a:ext cx="757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C7</a:t>
            </a:r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3EACE10C-A9CE-85AE-A3D4-59589ED59A50}"/>
              </a:ext>
            </a:extLst>
          </p:cNvPr>
          <p:cNvSpPr txBox="1"/>
          <p:nvPr/>
        </p:nvSpPr>
        <p:spPr>
          <a:xfrm>
            <a:off x="7598940" y="3017733"/>
            <a:ext cx="757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C25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913151EE-04C4-F0C1-D224-238BF112178F}"/>
              </a:ext>
            </a:extLst>
          </p:cNvPr>
          <p:cNvSpPr txBox="1"/>
          <p:nvPr/>
        </p:nvSpPr>
        <p:spPr>
          <a:xfrm>
            <a:off x="685944" y="4706503"/>
            <a:ext cx="4464977" cy="12311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1400" dirty="0" err="1"/>
              <a:t>notebook</a:t>
            </a:r>
            <a:r>
              <a:rPr lang="de-DE" sz="1400" dirty="0"/>
              <a:t>: </a:t>
            </a:r>
            <a:r>
              <a:rPr lang="de-DE" sz="1400" dirty="0" err="1"/>
              <a:t>gating</a:t>
            </a:r>
            <a:r>
              <a:rPr lang="de-DE" sz="1400" dirty="0"/>
              <a:t>/Paper/</a:t>
            </a:r>
            <a:r>
              <a:rPr lang="de-DE" sz="1400" dirty="0" err="1"/>
              <a:t>covid</a:t>
            </a:r>
            <a:r>
              <a:rPr lang="de-DE" sz="1400" dirty="0"/>
              <a:t>/01_get_data.ipynb</a:t>
            </a:r>
          </a:p>
          <a:p>
            <a:r>
              <a:rPr lang="de-DE" sz="1400" dirty="0" err="1"/>
              <a:t>notebook</a:t>
            </a:r>
            <a:r>
              <a:rPr lang="de-DE" sz="1400" dirty="0"/>
              <a:t>: gating/Paper/</a:t>
            </a:r>
            <a:r>
              <a:rPr lang="de-DE" sz="1400" dirty="0" err="1"/>
              <a:t>covid</a:t>
            </a:r>
            <a:r>
              <a:rPr lang="de-DE" sz="1400"/>
              <a:t>/03_</a:t>
            </a:r>
            <a:r>
              <a:rPr lang="de-DE" sz="1400" dirty="0"/>
              <a:t>run_gating.ipynb</a:t>
            </a:r>
          </a:p>
          <a:p>
            <a:r>
              <a:rPr lang="de-DE" sz="1400" dirty="0" err="1"/>
              <a:t>results</a:t>
            </a:r>
            <a:r>
              <a:rPr lang="de-DE" sz="1400" dirty="0"/>
              <a:t>: </a:t>
            </a:r>
            <a:r>
              <a:rPr lang="de-DE" sz="1400" dirty="0" err="1"/>
              <a:t>gating</a:t>
            </a:r>
            <a:r>
              <a:rPr lang="de-DE" sz="1400" dirty="0"/>
              <a:t>/Paper/</a:t>
            </a:r>
            <a:r>
              <a:rPr lang="de-DE" sz="1400" dirty="0" err="1"/>
              <a:t>results</a:t>
            </a:r>
            <a:r>
              <a:rPr lang="de-DE" sz="1400" dirty="0"/>
              <a:t>/03_cluster_C&lt;7|25&gt;</a:t>
            </a:r>
          </a:p>
          <a:p>
            <a:r>
              <a:rPr lang="de-DE" sz="1400" dirty="0"/>
              <a:t>Original in </a:t>
            </a:r>
            <a:r>
              <a:rPr lang="de-DE" sz="1400" dirty="0" err="1"/>
              <a:t>cluster</a:t>
            </a:r>
            <a:r>
              <a:rPr lang="de-DE" sz="1400" dirty="0"/>
              <a:t>: </a:t>
            </a:r>
            <a:r>
              <a:rPr lang="de-DE" sz="1400" dirty="0" err="1">
                <a:solidFill>
                  <a:prstClr val="black"/>
                </a:solidFill>
                <a:latin typeface="Lucida Console" panose="020B0609040504020204" pitchFamily="49" charset="0"/>
              </a:rPr>
              <a:t>projects</a:t>
            </a:r>
            <a:r>
              <a:rPr lang="de-DE" sz="1400" dirty="0">
                <a:solidFill>
                  <a:prstClr val="black"/>
                </a:solidFill>
                <a:latin typeface="Lucida Console" panose="020B0609040504020204" pitchFamily="49" charset="0"/>
              </a:rPr>
              <a:t>/</a:t>
            </a:r>
            <a:r>
              <a:rPr lang="de-DE" sz="1400" dirty="0" err="1">
                <a:solidFill>
                  <a:prstClr val="black"/>
                </a:solidFill>
                <a:latin typeface="Lucida Console" panose="020B0609040504020204" pitchFamily="49" charset="0"/>
              </a:rPr>
              <a:t>gating</a:t>
            </a:r>
            <a:r>
              <a:rPr lang="de-DE" sz="1400" dirty="0">
                <a:solidFill>
                  <a:prstClr val="black"/>
                </a:solidFill>
                <a:latin typeface="Lucida Console" panose="020B0609040504020204" pitchFamily="49" charset="0"/>
              </a:rPr>
              <a:t>/</a:t>
            </a:r>
            <a:r>
              <a:rPr lang="de-DE" sz="1400" dirty="0" err="1">
                <a:solidFill>
                  <a:prstClr val="black"/>
                </a:solidFill>
                <a:latin typeface="Lucida Console" panose="020B0609040504020204" pitchFamily="49" charset="0"/>
              </a:rPr>
              <a:t>data</a:t>
            </a:r>
            <a:r>
              <a:rPr lang="de-DE" sz="1400" dirty="0">
                <a:solidFill>
                  <a:prstClr val="black"/>
                </a:solidFill>
                <a:latin typeface="Lucida Console" panose="020B0609040504020204" pitchFamily="49" charset="0"/>
              </a:rPr>
              <a:t>/</a:t>
            </a:r>
            <a:r>
              <a:rPr lang="de-DE" sz="1400" dirty="0" err="1">
                <a:solidFill>
                  <a:prstClr val="black"/>
                </a:solidFill>
                <a:latin typeface="Lucida Console" panose="020B0609040504020204" pitchFamily="49" charset="0"/>
              </a:rPr>
              <a:t>covid</a:t>
            </a:r>
            <a:endParaRPr lang="de-DE" sz="1400" dirty="0">
              <a:solidFill>
                <a:prstClr val="black"/>
              </a:solidFill>
              <a:latin typeface="Lucida Console" panose="020B0609040504020204" pitchFamily="49" charset="0"/>
            </a:endParaRPr>
          </a:p>
          <a:p>
            <a:r>
              <a:rPr lang="de-DE" dirty="0"/>
              <a:t>1/16 </a:t>
            </a:r>
            <a:r>
              <a:rPr lang="de-DE" dirty="0" err="1"/>
              <a:t>fraction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89077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feld 5">
            <a:extLst>
              <a:ext uri="{FF2B5EF4-FFF2-40B4-BE49-F238E27FC236}">
                <a16:creationId xmlns:a16="http://schemas.microsoft.com/office/drawing/2014/main" id="{B3AD419D-EB67-5165-F0A7-14868CBFEA51}"/>
              </a:ext>
            </a:extLst>
          </p:cNvPr>
          <p:cNvSpPr txBox="1"/>
          <p:nvPr/>
        </p:nvSpPr>
        <p:spPr>
          <a:xfrm>
            <a:off x="6163733" y="1574801"/>
            <a:ext cx="57149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Reduced</a:t>
            </a:r>
            <a:r>
              <a:rPr lang="de-DE" dirty="0"/>
              <a:t> </a:t>
            </a:r>
            <a:r>
              <a:rPr lang="de-DE" dirty="0" err="1"/>
              <a:t>panel</a:t>
            </a:r>
            <a:r>
              <a:rPr lang="de-DE" dirty="0"/>
              <a:t> </a:t>
            </a:r>
            <a:r>
              <a:rPr lang="de-DE" dirty="0" err="1"/>
              <a:t>here</a:t>
            </a:r>
            <a:r>
              <a:rPr lang="de-DE" dirty="0"/>
              <a:t>? </a:t>
            </a:r>
          </a:p>
          <a:p>
            <a:r>
              <a:rPr lang="de-DE" dirty="0" err="1"/>
              <a:t>Used</a:t>
            </a:r>
            <a:r>
              <a:rPr lang="de-DE" dirty="0"/>
              <a:t> </a:t>
            </a:r>
            <a:r>
              <a:rPr lang="de-DE" dirty="0" err="1"/>
              <a:t>markers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CITEseq</a:t>
            </a:r>
            <a:r>
              <a:rPr lang="de-DE" dirty="0"/>
              <a:t> </a:t>
            </a:r>
            <a:r>
              <a:rPr lang="de-DE" dirty="0" err="1"/>
              <a:t>partly</a:t>
            </a:r>
            <a:r>
              <a:rPr lang="de-DE" dirty="0"/>
              <a:t> not in </a:t>
            </a:r>
            <a:r>
              <a:rPr lang="de-DE" dirty="0" err="1"/>
              <a:t>CyTOF</a:t>
            </a:r>
            <a:r>
              <a:rPr lang="de-DE" dirty="0"/>
              <a:t> </a:t>
            </a:r>
            <a:r>
              <a:rPr lang="de-DE" dirty="0" err="1"/>
              <a:t>panel</a:t>
            </a:r>
            <a:r>
              <a:rPr lang="de-DE" dirty="0"/>
              <a:t> – </a:t>
            </a:r>
            <a:r>
              <a:rPr lang="de-DE" dirty="0" err="1"/>
              <a:t>e.g</a:t>
            </a:r>
            <a:r>
              <a:rPr lang="de-DE" dirty="0"/>
              <a:t> CEACAM8, CD1d</a:t>
            </a:r>
          </a:p>
        </p:txBody>
      </p:sp>
      <p:pic>
        <p:nvPicPr>
          <p:cNvPr id="2" name="Grafik 1" descr="Ein Bild, das Diagramm enthält.&#10;&#10;Automatisch generierte Beschreibung">
            <a:extLst>
              <a:ext uri="{FF2B5EF4-FFF2-40B4-BE49-F238E27FC236}">
                <a16:creationId xmlns:a16="http://schemas.microsoft.com/office/drawing/2014/main" id="{820C5E69-0244-9BDA-875A-1C542F5E4BA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022" t="15298" r="31485" b="6957"/>
          <a:stretch/>
        </p:blipFill>
        <p:spPr>
          <a:xfrm>
            <a:off x="200167" y="1196198"/>
            <a:ext cx="6034157" cy="5208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73496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283</Words>
  <Application>Microsoft Office PowerPoint</Application>
  <PresentationFormat>Breitbild</PresentationFormat>
  <Paragraphs>41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Lucida Console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Friedrich, Vincent David</dc:creator>
  <cp:lastModifiedBy>Friedrich, Vincent David</cp:lastModifiedBy>
  <cp:revision>9</cp:revision>
  <dcterms:created xsi:type="dcterms:W3CDTF">2023-04-11T13:39:58Z</dcterms:created>
  <dcterms:modified xsi:type="dcterms:W3CDTF">2023-04-13T09:30:07Z</dcterms:modified>
</cp:coreProperties>
</file>