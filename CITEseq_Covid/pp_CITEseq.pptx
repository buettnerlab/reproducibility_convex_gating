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60" r:id="rId4"/>
    <p:sldId id="257" r:id="rId5"/>
    <p:sldId id="261" r:id="rId6"/>
    <p:sldId id="259" r:id="rId7"/>
    <p:sldId id="258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50" autoAdjust="0"/>
    <p:restoredTop sz="94660"/>
  </p:normalViewPr>
  <p:slideViewPr>
    <p:cSldViewPr snapToGrid="0">
      <p:cViewPr>
        <p:scale>
          <a:sx n="150" d="100"/>
          <a:sy n="150" d="100"/>
        </p:scale>
        <p:origin x="180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BA49E4-0744-1189-7A31-516C496D7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1F13B99-1321-6E3A-C1D6-FD36ADFCF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F04BA7-57B7-B399-7A29-88F2373C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DD86B-63DD-41DD-8D04-C864B2C8B0B8}" type="datetimeFigureOut">
              <a:rPr lang="de-DE" smtClean="0"/>
              <a:t>12.04.2023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5CB08A-59B4-240C-7221-49BFC5631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5C2036-3219-047D-6B3C-DD5D0CC91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9E7A-1C8E-47A1-81C2-D46BADC813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3015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D46068-0AFC-E3FF-6CF9-F6DA8A8C8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D0C47C-2700-1BAF-09C0-C8FF54E2F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B51CF3-FADA-2A08-13C1-643690FA9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DD86B-63DD-41DD-8D04-C864B2C8B0B8}" type="datetimeFigureOut">
              <a:rPr lang="de-DE" smtClean="0"/>
              <a:t>12.04.2023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DD9FAB-1347-8C96-DE66-B0356D4FF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D385DC-29E6-0550-A8EB-2FE5ADFC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9E7A-1C8E-47A1-81C2-D46BADC813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7228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996019-8356-3780-404F-F2C4689D9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BF8E99-E309-2068-3533-2085FF3B2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4521CB-171D-E6A7-B93B-ABDF96F61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DD86B-63DD-41DD-8D04-C864B2C8B0B8}" type="datetimeFigureOut">
              <a:rPr lang="de-DE" smtClean="0"/>
              <a:t>12.04.2023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B56634-9096-10D9-04B1-D9303BCC2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85729C-71C7-8130-34A6-0105CE4C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9E7A-1C8E-47A1-81C2-D46BADC813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795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1692BB-F478-E7A4-6502-0A2FA8E9E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2754DD-1E79-D630-EF7A-7E2BB8CDC2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17844F8-1477-8CB4-B178-FD245B5E4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FAF0F7D-BD4D-B17E-7831-AFD531FA6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DD86B-63DD-41DD-8D04-C864B2C8B0B8}" type="datetimeFigureOut">
              <a:rPr lang="de-DE" smtClean="0"/>
              <a:t>12.04.2023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0E6338-00E4-7B20-1649-B159C73A3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0775E56-53DA-47ED-3DC8-6C94ADDA1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9E7A-1C8E-47A1-81C2-D46BADC813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1327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FC51FF-D551-C314-EF7B-8FB088C6F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78C94D8-041B-545E-57BD-A50AE7F61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10A94AD-1906-D2C7-1E14-0234542AA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A0984BA-18C8-B1E5-79F6-EAA223650A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74C9A71-8D40-2938-FD58-565CE3EF4E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62D129D-347E-E5B3-D5AF-3FB12DE4C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DD86B-63DD-41DD-8D04-C864B2C8B0B8}" type="datetimeFigureOut">
              <a:rPr lang="de-DE" smtClean="0"/>
              <a:t>12.04.2023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A0278F9-85D3-DA49-D819-EC61AA374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867DD54-E9F0-FABE-5227-EC5C8D83C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9E7A-1C8E-47A1-81C2-D46BADC813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8217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B484EE-6E66-0A9C-B516-A6B2D05EA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31E214-D9B8-1505-0D93-D9B237253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DD86B-63DD-41DD-8D04-C864B2C8B0B8}" type="datetimeFigureOut">
              <a:rPr lang="de-DE" smtClean="0"/>
              <a:t>12.04.2023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58CD84-7918-369E-C0CC-4D893F34D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0029EF-D289-D539-9C9E-2B58AF743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9E7A-1C8E-47A1-81C2-D46BADC813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4524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A10851C-2C60-3C0A-5A87-73D2E46B8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DD86B-63DD-41DD-8D04-C864B2C8B0B8}" type="datetimeFigureOut">
              <a:rPr lang="de-DE" smtClean="0"/>
              <a:t>12.04.2023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EC72C09-C2F6-8755-DB56-38F5022CE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3A6F775-062F-17C1-0604-B88F23FB2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9E7A-1C8E-47A1-81C2-D46BADC813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2083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9014C6-7024-560B-717B-97569D9DB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6277AC-1754-2A59-935E-18FD7F27E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2EB370-2C11-8CCC-9320-C10347464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0C104AE-41B7-74AE-3952-E2273F8E9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DD86B-63DD-41DD-8D04-C864B2C8B0B8}" type="datetimeFigureOut">
              <a:rPr lang="de-DE" smtClean="0"/>
              <a:t>12.04.2023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FD77756-5722-94D8-AAFA-8B5719C40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F0668D5-D504-5177-8677-4EC1F6E4C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9E7A-1C8E-47A1-81C2-D46BADC813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6549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3E8C3B-F511-273E-AA8F-223EFD09C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E4AE707-3CD6-4CFB-59E4-106CF71621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B3E3EC6-42A7-D63F-600B-D0AEBD61D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A6AA58D-799D-5F74-43E4-FBC6C3913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DD86B-63DD-41DD-8D04-C864B2C8B0B8}" type="datetimeFigureOut">
              <a:rPr lang="de-DE" smtClean="0"/>
              <a:t>12.04.2023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61A719A-AF09-D6D4-C3DC-E2759011B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FBE36DC-52D2-F51C-705B-C3510136F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9E7A-1C8E-47A1-81C2-D46BADC813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2061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EF1CAC-7ADB-8ADC-6A04-62C6ECDAE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B7A9084-2D80-3DBE-A516-BC7A22AEA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38E530-6DD0-C527-6AB1-6A70CA6B5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DD86B-63DD-41DD-8D04-C864B2C8B0B8}" type="datetimeFigureOut">
              <a:rPr lang="de-DE" smtClean="0"/>
              <a:t>12.04.2023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31D407-7489-DF67-4912-362FF66A5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BA64604-B73E-2CB9-23E8-462624AF2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9E7A-1C8E-47A1-81C2-D46BADC813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0994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CE5686B-4EA4-1FCB-9F95-9BBE4E316F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E7423C7-C30D-DDD8-C68C-B085F6639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F55BDF-1D0D-E188-046C-02EF42891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DD86B-63DD-41DD-8D04-C864B2C8B0B8}" type="datetimeFigureOut">
              <a:rPr lang="de-DE" smtClean="0"/>
              <a:t>12.04.2023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81E303-03BB-28EA-B9D2-C8083361D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805BD3-773D-7FE0-41B6-B77ED0F46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9E7A-1C8E-47A1-81C2-D46BADC813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1305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7E16846-1504-A091-2788-B4C7EB854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88F76A1-D2A8-553C-1976-43588CD1C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3608D9-7115-9868-C563-1EAF4EA44B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DD86B-63DD-41DD-8D04-C864B2C8B0B8}" type="datetimeFigureOut">
              <a:rPr lang="de-DE" smtClean="0"/>
              <a:t>12.04.2023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F2289B-B5BC-E47B-7873-740FA462F0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8E6E1E-B3C8-C5A3-751F-61C2905CD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B9E7A-1C8E-47A1-81C2-D46BADC813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4993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tmp"/><Relationship Id="rId2" Type="http://schemas.openxmlformats.org/officeDocument/2006/relationships/image" Target="../media/image41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tmp"/><Relationship Id="rId2" Type="http://schemas.openxmlformats.org/officeDocument/2006/relationships/image" Target="../media/image43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tmp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CF8B182D-3079-634D-7EEB-41561E8A1451}"/>
              </a:ext>
            </a:extLst>
          </p:cNvPr>
          <p:cNvSpPr txBox="1"/>
          <p:nvPr/>
        </p:nvSpPr>
        <p:spPr>
          <a:xfrm>
            <a:off x="2651760" y="1803400"/>
            <a:ext cx="725424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600" dirty="0" err="1"/>
              <a:t>CITEseq</a:t>
            </a:r>
            <a:endParaRPr lang="de-DE" sz="16600" dirty="0"/>
          </a:p>
        </p:txBody>
      </p:sp>
    </p:spTree>
    <p:extLst>
      <p:ext uri="{BB962C8B-B14F-4D97-AF65-F5344CB8AC3E}">
        <p14:creationId xmlns:p14="http://schemas.microsoft.com/office/powerpoint/2010/main" val="103159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2E07CC15-69AA-3E17-224F-B89F4CA31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89" y="375704"/>
            <a:ext cx="2127994" cy="1549616"/>
          </a:xfrm>
          <a:prstGeom prst="rect">
            <a:avLst/>
          </a:prstGeom>
        </p:spPr>
      </p:pic>
      <p:pic>
        <p:nvPicPr>
          <p:cNvPr id="7" name="Grafik 6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476C7ADB-3168-3A52-F498-486C26902E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521" y="421249"/>
            <a:ext cx="1951548" cy="1458525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E5060F2C-B8BE-29D7-CD70-4167E4CD260F}"/>
              </a:ext>
            </a:extLst>
          </p:cNvPr>
          <p:cNvSpPr txBox="1"/>
          <p:nvPr/>
        </p:nvSpPr>
        <p:spPr>
          <a:xfrm>
            <a:off x="8159670" y="1755212"/>
            <a:ext cx="2239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denoised</a:t>
            </a:r>
            <a:r>
              <a:rPr lang="de-DE" b="1" dirty="0"/>
              <a:t> – </a:t>
            </a:r>
            <a:r>
              <a:rPr lang="de-DE" b="1" dirty="0" err="1"/>
              <a:t>full</a:t>
            </a:r>
            <a:r>
              <a:rPr lang="de-DE" b="1" dirty="0"/>
              <a:t> </a:t>
            </a:r>
            <a:r>
              <a:rPr lang="de-DE" b="1" dirty="0" err="1"/>
              <a:t>panel</a:t>
            </a:r>
            <a:r>
              <a:rPr lang="de-DE" b="1" dirty="0"/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770A72A-FEC2-77C3-081F-AD09657036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89" y="2010529"/>
            <a:ext cx="2010982" cy="1464407"/>
          </a:xfrm>
          <a:prstGeom prst="rect">
            <a:avLst/>
          </a:prstGeom>
        </p:spPr>
      </p:pic>
      <p:pic>
        <p:nvPicPr>
          <p:cNvPr id="14" name="Grafik 13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CE0E0C5E-E6E5-E543-27B2-27A9772E14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521" y="2023140"/>
            <a:ext cx="1951548" cy="1458526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0A38CBE5-4063-D7CC-3039-C9E07E7250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370" y="2023140"/>
            <a:ext cx="2127993" cy="1418662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611F61A9-E4B0-C96D-65F0-B94190ACF7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369" y="375704"/>
            <a:ext cx="2127994" cy="1418662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8CC97230-243C-6AA3-7523-AEB7B4BB774A}"/>
              </a:ext>
            </a:extLst>
          </p:cNvPr>
          <p:cNvSpPr txBox="1"/>
          <p:nvPr/>
        </p:nvSpPr>
        <p:spPr>
          <a:xfrm>
            <a:off x="8091910" y="5068436"/>
            <a:ext cx="2622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denoised</a:t>
            </a:r>
            <a:r>
              <a:rPr lang="de-DE" b="1" dirty="0"/>
              <a:t> – minimal </a:t>
            </a:r>
            <a:r>
              <a:rPr lang="de-DE" b="1" dirty="0" err="1"/>
              <a:t>panel</a:t>
            </a:r>
            <a:endParaRPr lang="de-DE" b="1" dirty="0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C5B4708F-9A28-396F-6362-2D1E3976F3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89" y="3798765"/>
            <a:ext cx="2127994" cy="1549616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B50947A7-128F-E94A-9BFD-F4B3A63605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370" y="3864242"/>
            <a:ext cx="2127993" cy="1418663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532B40F5-0DC0-06A7-65BA-68E795629E4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89" y="5303357"/>
            <a:ext cx="2073070" cy="1509619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F48D02D9-AEE3-8E37-48D2-427205EC512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128" y="5323442"/>
            <a:ext cx="2018806" cy="1447831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A02CDD33-7BA5-F317-7AE1-ADCA5C3829A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399" y="5323442"/>
            <a:ext cx="2127993" cy="1418662"/>
          </a:xfrm>
          <a:prstGeom prst="rect">
            <a:avLst/>
          </a:prstGeom>
        </p:spPr>
      </p:pic>
      <p:sp>
        <p:nvSpPr>
          <p:cNvPr id="30" name="Rechteck 29">
            <a:extLst>
              <a:ext uri="{FF2B5EF4-FFF2-40B4-BE49-F238E27FC236}">
                <a16:creationId xmlns:a16="http://schemas.microsoft.com/office/drawing/2014/main" id="{5400616F-F773-A2ED-69EF-1FFBBFDBEDAE}"/>
              </a:ext>
            </a:extLst>
          </p:cNvPr>
          <p:cNvSpPr/>
          <p:nvPr/>
        </p:nvSpPr>
        <p:spPr>
          <a:xfrm>
            <a:off x="401320" y="375704"/>
            <a:ext cx="7366000" cy="32006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D26708C0-99E2-6C56-1992-43865F7BB84B}"/>
              </a:ext>
            </a:extLst>
          </p:cNvPr>
          <p:cNvSpPr/>
          <p:nvPr/>
        </p:nvSpPr>
        <p:spPr>
          <a:xfrm>
            <a:off x="401320" y="3798764"/>
            <a:ext cx="7366000" cy="30091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A99663D-CC5C-4264-13F2-EC022C6BBFD4}"/>
              </a:ext>
            </a:extLst>
          </p:cNvPr>
          <p:cNvSpPr txBox="1"/>
          <p:nvPr/>
        </p:nvSpPr>
        <p:spPr>
          <a:xfrm>
            <a:off x="8262758" y="5437768"/>
            <a:ext cx="2280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CD3, CD4, CD8, CD16 </a:t>
            </a:r>
          </a:p>
        </p:txBody>
      </p:sp>
    </p:spTree>
    <p:extLst>
      <p:ext uri="{BB962C8B-B14F-4D97-AF65-F5344CB8AC3E}">
        <p14:creationId xmlns:p14="http://schemas.microsoft.com/office/powerpoint/2010/main" val="2276549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feld 14">
            <a:extLst>
              <a:ext uri="{FF2B5EF4-FFF2-40B4-BE49-F238E27FC236}">
                <a16:creationId xmlns:a16="http://schemas.microsoft.com/office/drawing/2014/main" id="{03AC5446-FE1A-DF53-0BF1-5F616182F9B9}"/>
              </a:ext>
            </a:extLst>
          </p:cNvPr>
          <p:cNvSpPr txBox="1"/>
          <p:nvPr/>
        </p:nvSpPr>
        <p:spPr>
          <a:xfrm>
            <a:off x="8407052" y="2075539"/>
            <a:ext cx="2540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denoised</a:t>
            </a:r>
            <a:r>
              <a:rPr lang="de-DE" b="1" dirty="0"/>
              <a:t> – </a:t>
            </a:r>
            <a:r>
              <a:rPr lang="de-DE" b="1" dirty="0" err="1"/>
              <a:t>georg</a:t>
            </a:r>
            <a:r>
              <a:rPr lang="de-DE" b="1" dirty="0"/>
              <a:t> </a:t>
            </a:r>
            <a:r>
              <a:rPr lang="de-DE" b="1" dirty="0" err="1"/>
              <a:t>panel</a:t>
            </a:r>
            <a:r>
              <a:rPr lang="de-DE" b="1" dirty="0"/>
              <a:t> </a:t>
            </a:r>
          </a:p>
        </p:txBody>
      </p:sp>
      <p:pic>
        <p:nvPicPr>
          <p:cNvPr id="17" name="Grafik 16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3B73E83E-7731-BC05-9BFB-EF664C816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14" y="306897"/>
            <a:ext cx="3282322" cy="2414973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35F17010-2007-A2A1-64FA-79F3EE10D0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046" y="248616"/>
            <a:ext cx="3709880" cy="2473254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3FEF0354-91E5-29E2-EC50-BA5F766D6E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981" y="2898850"/>
            <a:ext cx="3658028" cy="2438685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1B7013F3-DC0B-7151-66C1-B72071A1B1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14" y="2976373"/>
            <a:ext cx="3348900" cy="2438686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C676B2B6-483E-7444-96C2-EBE861D4A17D}"/>
              </a:ext>
            </a:extLst>
          </p:cNvPr>
          <p:cNvSpPr/>
          <p:nvPr/>
        </p:nvSpPr>
        <p:spPr>
          <a:xfrm>
            <a:off x="401320" y="248616"/>
            <a:ext cx="7693438" cy="52967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BA928C64-CC9E-F4F2-D6C9-E2A72D4B2318}"/>
              </a:ext>
            </a:extLst>
          </p:cNvPr>
          <p:cNvSpPr txBox="1"/>
          <p:nvPr/>
        </p:nvSpPr>
        <p:spPr>
          <a:xfrm>
            <a:off x="8407052" y="2517744"/>
            <a:ext cx="31627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CD8, CD14, CD15, CD16, CD62L</a:t>
            </a:r>
          </a:p>
          <a:p>
            <a:r>
              <a:rPr lang="de-DE" dirty="0"/>
              <a:t>(CD10 not in </a:t>
            </a:r>
            <a:r>
              <a:rPr lang="de-DE" dirty="0" err="1"/>
              <a:t>CITEseq</a:t>
            </a:r>
            <a:r>
              <a:rPr lang="de-D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46920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8466EC7D-B2A7-0637-213C-E10227BE0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23" y="175315"/>
            <a:ext cx="1798010" cy="1309320"/>
          </a:xfrm>
          <a:prstGeom prst="rect">
            <a:avLst/>
          </a:prstGeom>
        </p:spPr>
      </p:pic>
      <p:pic>
        <p:nvPicPr>
          <p:cNvPr id="7" name="Grafik 6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D9C94522-277B-13EB-7758-FBBD70CBB8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653" y="154796"/>
            <a:ext cx="1798010" cy="1343775"/>
          </a:xfrm>
          <a:prstGeom prst="rect">
            <a:avLst/>
          </a:prstGeom>
        </p:spPr>
      </p:pic>
      <p:pic>
        <p:nvPicPr>
          <p:cNvPr id="9" name="Grafik 8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C896291E-651A-AAEA-97FA-C9BB29F2A1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873" y="134797"/>
            <a:ext cx="2088566" cy="1392377"/>
          </a:xfrm>
          <a:prstGeom prst="rect">
            <a:avLst/>
          </a:prstGeom>
        </p:spPr>
      </p:pic>
      <p:pic>
        <p:nvPicPr>
          <p:cNvPr id="11" name="Grafik 10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6376F8D2-DF73-B2A8-951F-8A459273D1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143" y="2054239"/>
            <a:ext cx="1743174" cy="1302793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7E7EDE43-9DDB-124C-0E7D-F3F71BEF3C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57" y="2054241"/>
            <a:ext cx="1738727" cy="1266150"/>
          </a:xfrm>
          <a:prstGeom prst="rect">
            <a:avLst/>
          </a:prstGeom>
        </p:spPr>
      </p:pic>
      <p:pic>
        <p:nvPicPr>
          <p:cNvPr id="15" name="Grafik 14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E451D884-04C2-5188-D773-9D16AA36AD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060" y="2054239"/>
            <a:ext cx="1806907" cy="1350425"/>
          </a:xfrm>
          <a:prstGeom prst="rect">
            <a:avLst/>
          </a:prstGeom>
        </p:spPr>
      </p:pic>
      <p:pic>
        <p:nvPicPr>
          <p:cNvPr id="17" name="Grafik 16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59B042E2-D4FF-03FE-B8B4-B3102E5A41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873" y="2027542"/>
            <a:ext cx="2045661" cy="1363774"/>
          </a:xfrm>
          <a:prstGeom prst="rect">
            <a:avLst/>
          </a:prstGeom>
        </p:spPr>
      </p:pic>
      <p:pic>
        <p:nvPicPr>
          <p:cNvPr id="19" name="Grafik 18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78FF8E7D-AE7B-8151-21D4-79F6BDE3C3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190" y="3845023"/>
            <a:ext cx="1703061" cy="1266150"/>
          </a:xfrm>
          <a:prstGeom prst="rect">
            <a:avLst/>
          </a:prstGeom>
        </p:spPr>
      </p:pic>
      <p:pic>
        <p:nvPicPr>
          <p:cNvPr id="21" name="Grafik 20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EB7355DB-C659-8EAA-1AAA-2D8743B2538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692" y="3845023"/>
            <a:ext cx="1784541" cy="1333710"/>
          </a:xfrm>
          <a:prstGeom prst="rect">
            <a:avLst/>
          </a:prstGeom>
        </p:spPr>
      </p:pic>
      <p:pic>
        <p:nvPicPr>
          <p:cNvPr id="23" name="Grafik 22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6652EDDC-9B70-C236-3329-2E64196BE30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568" y="3810000"/>
            <a:ext cx="1917432" cy="1396284"/>
          </a:xfrm>
          <a:prstGeom prst="rect">
            <a:avLst/>
          </a:prstGeom>
        </p:spPr>
      </p:pic>
      <p:pic>
        <p:nvPicPr>
          <p:cNvPr id="25" name="Grafik 24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FC5A84A7-6972-8982-811C-1358006CDD1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595" y="3810000"/>
            <a:ext cx="1866599" cy="1395037"/>
          </a:xfrm>
          <a:prstGeom prst="rect">
            <a:avLst/>
          </a:prstGeom>
        </p:spPr>
      </p:pic>
      <p:pic>
        <p:nvPicPr>
          <p:cNvPr id="27" name="Grafik 26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72C31DFB-E218-AD48-A62A-9941BD4DD25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954" y="3763996"/>
            <a:ext cx="2177842" cy="1451895"/>
          </a:xfrm>
          <a:prstGeom prst="rect">
            <a:avLst/>
          </a:prstGeom>
        </p:spPr>
      </p:pic>
      <p:pic>
        <p:nvPicPr>
          <p:cNvPr id="29" name="Grafik 28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E8EF69BD-A4E5-F7A2-C2EC-1686B2C21CD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57" y="5240867"/>
            <a:ext cx="1735705" cy="1297211"/>
          </a:xfrm>
          <a:prstGeom prst="rect">
            <a:avLst/>
          </a:prstGeom>
        </p:spPr>
      </p:pic>
      <p:pic>
        <p:nvPicPr>
          <p:cNvPr id="31" name="Grafik 30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54D10455-E540-23E9-B6F7-FEC6EF3FC01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057" y="5205038"/>
            <a:ext cx="1866600" cy="1395038"/>
          </a:xfrm>
          <a:prstGeom prst="rect">
            <a:avLst/>
          </a:prstGeom>
        </p:spPr>
      </p:pic>
      <p:pic>
        <p:nvPicPr>
          <p:cNvPr id="33" name="Grafik 32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90BDF9FD-FDFF-CD47-A95F-9BBD1ADEEF6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568" y="5205037"/>
            <a:ext cx="1917432" cy="1433028"/>
          </a:xfrm>
          <a:prstGeom prst="rect">
            <a:avLst/>
          </a:prstGeom>
        </p:spPr>
      </p:pic>
      <p:pic>
        <p:nvPicPr>
          <p:cNvPr id="35" name="Grafik 34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AA2210C2-F9D5-5AB3-7C3E-D75085B673D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911" y="5215891"/>
            <a:ext cx="1907917" cy="1422174"/>
          </a:xfrm>
          <a:prstGeom prst="rect">
            <a:avLst/>
          </a:prstGeom>
        </p:spPr>
      </p:pic>
      <p:pic>
        <p:nvPicPr>
          <p:cNvPr id="37" name="Grafik 36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A6D017BA-17E3-75C6-D73F-3896D0424ED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954" y="5186170"/>
            <a:ext cx="2177842" cy="1451895"/>
          </a:xfrm>
          <a:prstGeom prst="rect">
            <a:avLst/>
          </a:prstGeom>
        </p:spPr>
      </p:pic>
      <p:sp>
        <p:nvSpPr>
          <p:cNvPr id="38" name="Rechteck 37">
            <a:extLst>
              <a:ext uri="{FF2B5EF4-FFF2-40B4-BE49-F238E27FC236}">
                <a16:creationId xmlns:a16="http://schemas.microsoft.com/office/drawing/2014/main" id="{5FB1AC7D-6979-5EB5-737A-7C6D38C0AFC4}"/>
              </a:ext>
            </a:extLst>
          </p:cNvPr>
          <p:cNvSpPr/>
          <p:nvPr/>
        </p:nvSpPr>
        <p:spPr>
          <a:xfrm>
            <a:off x="452119" y="119775"/>
            <a:ext cx="9411547" cy="33769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36DD94C-CB24-51CD-9348-ACA5B5F47BB1}"/>
              </a:ext>
            </a:extLst>
          </p:cNvPr>
          <p:cNvSpPr/>
          <p:nvPr/>
        </p:nvSpPr>
        <p:spPr>
          <a:xfrm>
            <a:off x="452119" y="3637301"/>
            <a:ext cx="10376748" cy="3131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C5695B42-B7B2-696F-47CD-09E24C420F13}"/>
              </a:ext>
            </a:extLst>
          </p:cNvPr>
          <p:cNvSpPr txBox="1"/>
          <p:nvPr/>
        </p:nvSpPr>
        <p:spPr>
          <a:xfrm>
            <a:off x="10077450" y="1075084"/>
            <a:ext cx="1502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raw</a:t>
            </a:r>
            <a:r>
              <a:rPr lang="de-DE" b="1" dirty="0"/>
              <a:t> </a:t>
            </a:r>
            <a:r>
              <a:rPr lang="de-DE" b="1" dirty="0" err="1"/>
              <a:t>data</a:t>
            </a:r>
            <a:r>
              <a:rPr lang="de-DE" b="1" dirty="0"/>
              <a:t> – </a:t>
            </a:r>
            <a:r>
              <a:rPr lang="de-DE" b="1" dirty="0" err="1"/>
              <a:t>full</a:t>
            </a:r>
            <a:r>
              <a:rPr lang="de-DE" b="1" dirty="0"/>
              <a:t> </a:t>
            </a:r>
            <a:r>
              <a:rPr lang="de-DE" b="1" dirty="0" err="1"/>
              <a:t>panel</a:t>
            </a:r>
            <a:r>
              <a:rPr lang="de-DE" b="1" dirty="0"/>
              <a:t> 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D8390A0B-DC54-8CC9-CF10-EDF397541C8F}"/>
              </a:ext>
            </a:extLst>
          </p:cNvPr>
          <p:cNvSpPr txBox="1"/>
          <p:nvPr/>
        </p:nvSpPr>
        <p:spPr>
          <a:xfrm>
            <a:off x="10804086" y="4569560"/>
            <a:ext cx="15028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raw</a:t>
            </a:r>
            <a:r>
              <a:rPr lang="de-DE" b="1" dirty="0"/>
              <a:t> </a:t>
            </a:r>
            <a:r>
              <a:rPr lang="de-DE" b="1" dirty="0" err="1"/>
              <a:t>data</a:t>
            </a:r>
            <a:r>
              <a:rPr lang="de-DE" b="1" dirty="0"/>
              <a:t> – </a:t>
            </a:r>
            <a:r>
              <a:rPr lang="de-DE" b="1" dirty="0" err="1"/>
              <a:t>minimum</a:t>
            </a:r>
            <a:r>
              <a:rPr lang="de-DE" b="1" dirty="0"/>
              <a:t> </a:t>
            </a:r>
            <a:r>
              <a:rPr lang="de-DE" b="1" dirty="0" err="1"/>
              <a:t>panel</a:t>
            </a:r>
            <a:endParaRPr lang="de-DE" b="1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1AAB617-045C-9E62-5F30-CD897BDA5902}"/>
              </a:ext>
            </a:extLst>
          </p:cNvPr>
          <p:cNvSpPr txBox="1"/>
          <p:nvPr/>
        </p:nvSpPr>
        <p:spPr>
          <a:xfrm>
            <a:off x="10908796" y="5419146"/>
            <a:ext cx="1282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CD3, CD4, CD8, CD16 </a:t>
            </a:r>
          </a:p>
        </p:txBody>
      </p:sp>
    </p:spTree>
    <p:extLst>
      <p:ext uri="{BB962C8B-B14F-4D97-AF65-F5344CB8AC3E}">
        <p14:creationId xmlns:p14="http://schemas.microsoft.com/office/powerpoint/2010/main" val="3948589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D21605D3-E450-4A0F-CA02-246AA3747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9778" y="210068"/>
            <a:ext cx="3063099" cy="2042066"/>
          </a:xfrm>
          <a:prstGeom prst="rect">
            <a:avLst/>
          </a:prstGeom>
        </p:spPr>
      </p:pic>
      <p:pic>
        <p:nvPicPr>
          <p:cNvPr id="7" name="Grafik 6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07A85B5C-01B6-EBC7-C5F7-05397638BA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77" y="277224"/>
            <a:ext cx="2698116" cy="1974909"/>
          </a:xfrm>
          <a:prstGeom prst="rect">
            <a:avLst/>
          </a:prstGeom>
        </p:spPr>
      </p:pic>
      <p:pic>
        <p:nvPicPr>
          <p:cNvPr id="9" name="Grafik 8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52F32490-26A7-ECFE-5892-F86D5BFBD9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377" y="4703744"/>
            <a:ext cx="2916282" cy="1944188"/>
          </a:xfrm>
          <a:prstGeom prst="rect">
            <a:avLst/>
          </a:prstGeom>
        </p:spPr>
      </p:pic>
      <p:pic>
        <p:nvPicPr>
          <p:cNvPr id="11" name="Grafik 10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DDDDDD2F-54C8-601A-4EBC-1F78108C06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87" y="2675229"/>
            <a:ext cx="2487635" cy="1859180"/>
          </a:xfrm>
          <a:prstGeom prst="rect">
            <a:avLst/>
          </a:prstGeom>
        </p:spPr>
      </p:pic>
      <p:pic>
        <p:nvPicPr>
          <p:cNvPr id="13" name="Grafik 12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919BA894-39D6-AFA7-B263-8E00416E51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442" y="2675228"/>
            <a:ext cx="2585776" cy="1882975"/>
          </a:xfrm>
          <a:prstGeom prst="rect">
            <a:avLst/>
          </a:prstGeom>
        </p:spPr>
      </p:pic>
      <p:pic>
        <p:nvPicPr>
          <p:cNvPr id="15" name="Grafik 14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04C5742F-FE9E-1DD4-F3E4-E92E970432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053" y="2703379"/>
            <a:ext cx="2585776" cy="1902488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7C674CDE-411D-374E-59F5-8CBCF7FD75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771" y="4712064"/>
            <a:ext cx="2487635" cy="1811508"/>
          </a:xfrm>
          <a:prstGeom prst="rect">
            <a:avLst/>
          </a:prstGeom>
        </p:spPr>
      </p:pic>
      <p:pic>
        <p:nvPicPr>
          <p:cNvPr id="19" name="Grafik 18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EDD654E2-13CC-C2CD-7A80-6C62EF6A64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442" y="4712064"/>
            <a:ext cx="2625558" cy="1882976"/>
          </a:xfrm>
          <a:prstGeom prst="rect">
            <a:avLst/>
          </a:prstGeom>
        </p:spPr>
      </p:pic>
      <p:sp>
        <p:nvSpPr>
          <p:cNvPr id="20" name="Rechteck 19">
            <a:extLst>
              <a:ext uri="{FF2B5EF4-FFF2-40B4-BE49-F238E27FC236}">
                <a16:creationId xmlns:a16="http://schemas.microsoft.com/office/drawing/2014/main" id="{FD292748-D804-B7FF-64D5-1EE4067C2634}"/>
              </a:ext>
            </a:extLst>
          </p:cNvPr>
          <p:cNvSpPr/>
          <p:nvPr/>
        </p:nvSpPr>
        <p:spPr>
          <a:xfrm>
            <a:off x="452119" y="119774"/>
            <a:ext cx="8808721" cy="66417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0AA35650-2251-4FE9-E949-6341B2C16150}"/>
              </a:ext>
            </a:extLst>
          </p:cNvPr>
          <p:cNvSpPr txBox="1"/>
          <p:nvPr/>
        </p:nvSpPr>
        <p:spPr>
          <a:xfrm>
            <a:off x="9517675" y="2827120"/>
            <a:ext cx="156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raw</a:t>
            </a:r>
            <a:r>
              <a:rPr lang="de-DE" b="1" dirty="0"/>
              <a:t> </a:t>
            </a:r>
            <a:r>
              <a:rPr lang="de-DE" b="1" dirty="0" err="1"/>
              <a:t>data</a:t>
            </a:r>
            <a:r>
              <a:rPr lang="de-DE" b="1" dirty="0"/>
              <a:t> – </a:t>
            </a:r>
            <a:r>
              <a:rPr lang="de-DE" b="1" dirty="0" err="1"/>
              <a:t>georg</a:t>
            </a:r>
            <a:r>
              <a:rPr lang="de-DE" b="1" dirty="0"/>
              <a:t> </a:t>
            </a:r>
            <a:r>
              <a:rPr lang="de-DE" b="1" dirty="0" err="1"/>
              <a:t>panel</a:t>
            </a:r>
            <a:endParaRPr lang="de-DE" b="1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9DD64A12-C5C9-C37E-FF93-41879FBA14A7}"/>
              </a:ext>
            </a:extLst>
          </p:cNvPr>
          <p:cNvSpPr txBox="1"/>
          <p:nvPr/>
        </p:nvSpPr>
        <p:spPr>
          <a:xfrm>
            <a:off x="9346853" y="3634873"/>
            <a:ext cx="25911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CD8, CD14, CD15, CD16, CD62L</a:t>
            </a:r>
          </a:p>
          <a:p>
            <a:r>
              <a:rPr lang="de-DE" dirty="0"/>
              <a:t>(CD10 not in </a:t>
            </a:r>
            <a:r>
              <a:rPr lang="de-DE" dirty="0" err="1"/>
              <a:t>CITEseq</a:t>
            </a:r>
            <a:r>
              <a:rPr lang="de-D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47950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33A2D0C7-43DE-9B31-560E-2A44B88EB5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4" t="15875" r="37542" b="7307"/>
          <a:stretch/>
        </p:blipFill>
        <p:spPr>
          <a:xfrm>
            <a:off x="955040" y="909321"/>
            <a:ext cx="4556760" cy="5146040"/>
          </a:xfrm>
          <a:prstGeom prst="rect">
            <a:avLst/>
          </a:prstGeom>
        </p:spPr>
      </p:pic>
      <p:pic>
        <p:nvPicPr>
          <p:cNvPr id="6" name="Grafik 5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F356B9E1-A5C9-EA24-F83F-E0915CB2933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0" t="16027" r="37625" b="7154"/>
          <a:stretch/>
        </p:blipFill>
        <p:spPr>
          <a:xfrm>
            <a:off x="6297299" y="909321"/>
            <a:ext cx="4709701" cy="5318759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97098E15-0B65-CB18-AC3F-D115FF87DE0D}"/>
              </a:ext>
            </a:extLst>
          </p:cNvPr>
          <p:cNvSpPr txBox="1"/>
          <p:nvPr/>
        </p:nvSpPr>
        <p:spPr>
          <a:xfrm>
            <a:off x="5303520" y="83066"/>
            <a:ext cx="1595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Celltype</a:t>
            </a:r>
            <a:r>
              <a:rPr lang="de-DE" dirty="0"/>
              <a:t> </a:t>
            </a:r>
            <a:r>
              <a:rPr lang="de-DE" dirty="0" err="1"/>
              <a:t>wise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5394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D09C6EB1-40D0-416C-28A1-1DF8ADDE4F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75" t="15269" r="31334" b="6927"/>
          <a:stretch/>
        </p:blipFill>
        <p:spPr>
          <a:xfrm>
            <a:off x="208279" y="1719580"/>
            <a:ext cx="3981981" cy="3418839"/>
          </a:xfrm>
          <a:prstGeom prst="rect">
            <a:avLst/>
          </a:prstGeom>
        </p:spPr>
      </p:pic>
      <p:pic>
        <p:nvPicPr>
          <p:cNvPr id="6" name="Grafik 5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3FA94E5E-DFF0-62CD-8ECD-85D60A7DAC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17" t="15724" r="31542" b="6776"/>
          <a:stretch/>
        </p:blipFill>
        <p:spPr>
          <a:xfrm>
            <a:off x="4190260" y="1719580"/>
            <a:ext cx="3977495" cy="3418839"/>
          </a:xfrm>
          <a:prstGeom prst="rect">
            <a:avLst/>
          </a:prstGeom>
        </p:spPr>
      </p:pic>
      <p:pic>
        <p:nvPicPr>
          <p:cNvPr id="9" name="Grafik 8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DD147816-FDAC-8891-F456-64EB49F335E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0" t="15572" r="31500" b="7079"/>
          <a:stretch/>
        </p:blipFill>
        <p:spPr>
          <a:xfrm>
            <a:off x="8210058" y="1719580"/>
            <a:ext cx="3981942" cy="3418839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E0F8F01D-758A-CBAE-2487-8EAB2BE219F5}"/>
              </a:ext>
            </a:extLst>
          </p:cNvPr>
          <p:cNvSpPr txBox="1"/>
          <p:nvPr/>
        </p:nvSpPr>
        <p:spPr>
          <a:xfrm>
            <a:off x="4883433" y="5235073"/>
            <a:ext cx="25911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CD8, CD14, CD15, CD16, CD62L</a:t>
            </a:r>
          </a:p>
          <a:p>
            <a:r>
              <a:rPr lang="de-DE" dirty="0"/>
              <a:t>(CD10 not in </a:t>
            </a:r>
            <a:r>
              <a:rPr lang="de-DE" dirty="0" err="1"/>
              <a:t>CITEseq</a:t>
            </a:r>
            <a:r>
              <a:rPr lang="de-DE" dirty="0"/>
              <a:t>)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CF5E66E-5750-6779-D485-416FBC2F2745}"/>
              </a:ext>
            </a:extLst>
          </p:cNvPr>
          <p:cNvSpPr txBox="1"/>
          <p:nvPr/>
        </p:nvSpPr>
        <p:spPr>
          <a:xfrm>
            <a:off x="9060576" y="5235073"/>
            <a:ext cx="2280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CD3, CD4, CD8, CD16 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F6C7F08-35D2-5383-A9D9-65E5F2FC9284}"/>
              </a:ext>
            </a:extLst>
          </p:cNvPr>
          <p:cNvSpPr txBox="1"/>
          <p:nvPr/>
        </p:nvSpPr>
        <p:spPr>
          <a:xfrm>
            <a:off x="850519" y="5327406"/>
            <a:ext cx="2280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all</a:t>
            </a:r>
          </a:p>
        </p:txBody>
      </p:sp>
    </p:spTree>
    <p:extLst>
      <p:ext uri="{BB962C8B-B14F-4D97-AF65-F5344CB8AC3E}">
        <p14:creationId xmlns:p14="http://schemas.microsoft.com/office/powerpoint/2010/main" val="1804296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DF06D156-DEFA-4BFB-C5A7-BF539C181E3D}"/>
              </a:ext>
            </a:extLst>
          </p:cNvPr>
          <p:cNvSpPr txBox="1"/>
          <p:nvPr/>
        </p:nvSpPr>
        <p:spPr>
          <a:xfrm>
            <a:off x="3256280" y="1935480"/>
            <a:ext cx="725424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600" dirty="0" err="1"/>
              <a:t>CyTOF</a:t>
            </a:r>
            <a:endParaRPr lang="de-DE" sz="16600" dirty="0"/>
          </a:p>
        </p:txBody>
      </p:sp>
    </p:spTree>
    <p:extLst>
      <p:ext uri="{BB962C8B-B14F-4D97-AF65-F5344CB8AC3E}">
        <p14:creationId xmlns:p14="http://schemas.microsoft.com/office/powerpoint/2010/main" val="1144258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EDD04CD5-C80B-B68B-2EDD-EB4B7AAA5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01" y="900702"/>
            <a:ext cx="2286346" cy="1708744"/>
          </a:xfrm>
          <a:prstGeom prst="rect">
            <a:avLst/>
          </a:prstGeom>
        </p:spPr>
      </p:pic>
      <p:pic>
        <p:nvPicPr>
          <p:cNvPr id="5" name="Grafik 4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449A1A23-A6BF-90EC-FFFF-3473A13882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759" y="931628"/>
            <a:ext cx="2322448" cy="1708744"/>
          </a:xfrm>
          <a:prstGeom prst="rect">
            <a:avLst/>
          </a:prstGeom>
        </p:spPr>
      </p:pic>
      <p:pic>
        <p:nvPicPr>
          <p:cNvPr id="6" name="Grafik 5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51343E4C-25B9-EC2D-0DE5-BE81D4F08D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3851" y="870616"/>
            <a:ext cx="2609505" cy="1739670"/>
          </a:xfrm>
          <a:prstGeom prst="rect">
            <a:avLst/>
          </a:prstGeom>
        </p:spPr>
      </p:pic>
      <p:pic>
        <p:nvPicPr>
          <p:cNvPr id="7" name="Grafik 6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FA26AF34-198E-9D65-FCB1-F1C56206F8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3997" y="3210433"/>
            <a:ext cx="2572559" cy="1715039"/>
          </a:xfrm>
          <a:prstGeom prst="rect">
            <a:avLst/>
          </a:prstGeom>
        </p:spPr>
      </p:pic>
      <p:pic>
        <p:nvPicPr>
          <p:cNvPr id="8" name="Grafik 7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066F9753-5301-EDFB-5582-FFE18B6299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62" y="3254419"/>
            <a:ext cx="2322449" cy="1691219"/>
          </a:xfrm>
          <a:prstGeom prst="rect">
            <a:avLst/>
          </a:prstGeom>
        </p:spPr>
      </p:pic>
      <p:pic>
        <p:nvPicPr>
          <p:cNvPr id="9" name="Grafik 8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4A27043A-A29F-467C-377F-FE880B30C1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308" y="3254419"/>
            <a:ext cx="2262899" cy="1691219"/>
          </a:xfrm>
          <a:prstGeom prst="rect">
            <a:avLst/>
          </a:prstGeom>
        </p:spPr>
      </p:pic>
      <p:pic>
        <p:nvPicPr>
          <p:cNvPr id="10" name="Grafik 9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927A4CE5-C77E-125E-ABCE-9D046490BA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802" y="3254419"/>
            <a:ext cx="2322449" cy="1691219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BD748C1D-6D2A-3661-26EB-14A93F919862}"/>
              </a:ext>
            </a:extLst>
          </p:cNvPr>
          <p:cNvSpPr txBox="1"/>
          <p:nvPr/>
        </p:nvSpPr>
        <p:spPr>
          <a:xfrm>
            <a:off x="656448" y="5351218"/>
            <a:ext cx="446497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 err="1"/>
              <a:t>notebook</a:t>
            </a:r>
            <a:r>
              <a:rPr lang="de-DE" sz="1400" dirty="0"/>
              <a:t>: </a:t>
            </a:r>
            <a:r>
              <a:rPr lang="de-DE" sz="1400" dirty="0" err="1"/>
              <a:t>gating</a:t>
            </a:r>
            <a:r>
              <a:rPr lang="de-DE" sz="1400" dirty="0"/>
              <a:t>/Paper/</a:t>
            </a:r>
            <a:r>
              <a:rPr lang="de-DE" sz="1400" dirty="0" err="1"/>
              <a:t>covid</a:t>
            </a:r>
            <a:r>
              <a:rPr lang="de-DE" sz="1400" dirty="0"/>
              <a:t>/01_get_data.ipynb</a:t>
            </a:r>
          </a:p>
          <a:p>
            <a:r>
              <a:rPr lang="de-DE" sz="1400" dirty="0" err="1"/>
              <a:t>notebook</a:t>
            </a:r>
            <a:r>
              <a:rPr lang="de-DE" sz="1400" dirty="0"/>
              <a:t>: gating/Paper/</a:t>
            </a:r>
            <a:r>
              <a:rPr lang="de-DE" sz="1400" dirty="0" err="1"/>
              <a:t>covid</a:t>
            </a:r>
            <a:r>
              <a:rPr lang="de-DE" sz="1400" dirty="0"/>
              <a:t>/02_run_gating.ipynb</a:t>
            </a:r>
          </a:p>
          <a:p>
            <a:r>
              <a:rPr lang="de-DE" sz="1400" dirty="0" err="1"/>
              <a:t>results</a:t>
            </a:r>
            <a:r>
              <a:rPr lang="de-DE" sz="1400" dirty="0"/>
              <a:t>: </a:t>
            </a:r>
            <a:r>
              <a:rPr lang="de-DE" sz="1400" dirty="0" err="1"/>
              <a:t>gating</a:t>
            </a:r>
            <a:r>
              <a:rPr lang="de-DE" sz="1400" dirty="0"/>
              <a:t>/Paper/</a:t>
            </a:r>
            <a:r>
              <a:rPr lang="de-DE" sz="1400" dirty="0" err="1"/>
              <a:t>results</a:t>
            </a:r>
            <a:r>
              <a:rPr lang="de-DE" sz="1400" dirty="0"/>
              <a:t>/02_cluster_C&lt;8|26&gt;</a:t>
            </a:r>
          </a:p>
          <a:p>
            <a:r>
              <a:rPr lang="de-DE" sz="1400" dirty="0"/>
              <a:t>Original in </a:t>
            </a:r>
            <a:r>
              <a:rPr lang="de-DE" sz="1400" dirty="0" err="1"/>
              <a:t>cluster</a:t>
            </a:r>
            <a:r>
              <a:rPr lang="de-DE" sz="1400" dirty="0"/>
              <a:t>: </a:t>
            </a:r>
            <a:r>
              <a:rPr lang="de-DE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projects</a:t>
            </a:r>
            <a:r>
              <a:rPr lang="de-DE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/</a:t>
            </a:r>
            <a:r>
              <a:rPr lang="de-DE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gating</a:t>
            </a:r>
            <a:r>
              <a:rPr lang="de-DE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/</a:t>
            </a:r>
            <a:r>
              <a:rPr lang="de-DE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data</a:t>
            </a:r>
            <a:r>
              <a:rPr lang="de-DE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/</a:t>
            </a:r>
            <a:r>
              <a:rPr lang="de-DE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covid</a:t>
            </a:r>
            <a:endParaRPr lang="de-DE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de-DE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subsampling</a:t>
            </a:r>
            <a:r>
              <a:rPr lang="de-DE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de-DE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factor</a:t>
            </a:r>
            <a:r>
              <a:rPr lang="de-DE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15</a:t>
            </a:r>
          </a:p>
          <a:p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C2A59A5-4B9E-11B3-0B64-88761F4A56FA}"/>
              </a:ext>
            </a:extLst>
          </p:cNvPr>
          <p:cNvSpPr/>
          <p:nvPr/>
        </p:nvSpPr>
        <p:spPr>
          <a:xfrm>
            <a:off x="533728" y="745648"/>
            <a:ext cx="8257071" cy="20446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810935B-575D-4FC4-210C-5E1736A7633F}"/>
              </a:ext>
            </a:extLst>
          </p:cNvPr>
          <p:cNvSpPr/>
          <p:nvPr/>
        </p:nvSpPr>
        <p:spPr>
          <a:xfrm>
            <a:off x="533727" y="3131722"/>
            <a:ext cx="10458696" cy="18700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633E183-56F7-023C-9858-D3C2F06A6167}"/>
              </a:ext>
            </a:extLst>
          </p:cNvPr>
          <p:cNvSpPr txBox="1"/>
          <p:nvPr/>
        </p:nvSpPr>
        <p:spPr>
          <a:xfrm>
            <a:off x="8905672" y="1636501"/>
            <a:ext cx="757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C8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4F260433-F278-818F-29D4-60DFAFD85DC3}"/>
              </a:ext>
            </a:extLst>
          </p:cNvPr>
          <p:cNvSpPr txBox="1"/>
          <p:nvPr/>
        </p:nvSpPr>
        <p:spPr>
          <a:xfrm>
            <a:off x="11071458" y="3963054"/>
            <a:ext cx="757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C26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FEC176D-8C80-A21F-9FE8-9B65D81E423E}"/>
              </a:ext>
            </a:extLst>
          </p:cNvPr>
          <p:cNvSpPr txBox="1"/>
          <p:nvPr/>
        </p:nvSpPr>
        <p:spPr>
          <a:xfrm>
            <a:off x="4700766" y="212808"/>
            <a:ext cx="2393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Georg </a:t>
            </a:r>
            <a:r>
              <a:rPr lang="de-DE" dirty="0" err="1"/>
              <a:t>CyTOF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08555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Diagramm enthält.&#10;&#10;Automatisch generierte Beschreibung">
            <a:extLst>
              <a:ext uri="{FF2B5EF4-FFF2-40B4-BE49-F238E27FC236}">
                <a16:creationId xmlns:a16="http://schemas.microsoft.com/office/drawing/2014/main" id="{81555C40-3CA3-E936-73B0-26FA756DC3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67" t="25127" r="37709" b="16557"/>
          <a:stretch/>
        </p:blipFill>
        <p:spPr>
          <a:xfrm>
            <a:off x="1346200" y="1320801"/>
            <a:ext cx="4090720" cy="3530599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B3AD419D-EB67-5165-F0A7-14868CBFEA51}"/>
              </a:ext>
            </a:extLst>
          </p:cNvPr>
          <p:cNvSpPr txBox="1"/>
          <p:nvPr/>
        </p:nvSpPr>
        <p:spPr>
          <a:xfrm>
            <a:off x="6163733" y="1574801"/>
            <a:ext cx="571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Reduced</a:t>
            </a:r>
            <a:r>
              <a:rPr lang="de-DE" dirty="0"/>
              <a:t> </a:t>
            </a:r>
            <a:r>
              <a:rPr lang="de-DE" dirty="0" err="1"/>
              <a:t>panel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? </a:t>
            </a:r>
          </a:p>
          <a:p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markers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CITEseq</a:t>
            </a:r>
            <a:r>
              <a:rPr lang="de-DE" dirty="0"/>
              <a:t> </a:t>
            </a:r>
            <a:r>
              <a:rPr lang="de-DE" dirty="0" err="1"/>
              <a:t>partly</a:t>
            </a:r>
            <a:r>
              <a:rPr lang="de-DE" dirty="0"/>
              <a:t> not in </a:t>
            </a:r>
            <a:r>
              <a:rPr lang="de-DE" dirty="0" err="1"/>
              <a:t>CyTOF</a:t>
            </a:r>
            <a:r>
              <a:rPr lang="de-DE" dirty="0"/>
              <a:t> </a:t>
            </a:r>
            <a:r>
              <a:rPr lang="de-DE" dirty="0" err="1"/>
              <a:t>panel</a:t>
            </a:r>
            <a:r>
              <a:rPr lang="de-DE" dirty="0"/>
              <a:t> – </a:t>
            </a:r>
            <a:r>
              <a:rPr lang="de-DE" dirty="0" err="1"/>
              <a:t>e.g</a:t>
            </a:r>
            <a:r>
              <a:rPr lang="de-DE" dirty="0"/>
              <a:t> CEACAM8, CD1d</a:t>
            </a:r>
          </a:p>
        </p:txBody>
      </p:sp>
    </p:spTree>
    <p:extLst>
      <p:ext uri="{BB962C8B-B14F-4D97-AF65-F5344CB8AC3E}">
        <p14:creationId xmlns:p14="http://schemas.microsoft.com/office/powerpoint/2010/main" val="4197349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</Words>
  <Application>Microsoft Office PowerPoint</Application>
  <PresentationFormat>Breitbild</PresentationFormat>
  <Paragraphs>29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Lucida Console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Friedrich, Vincent David</dc:creator>
  <cp:lastModifiedBy>Friedrich, Vincent David</cp:lastModifiedBy>
  <cp:revision>6</cp:revision>
  <dcterms:created xsi:type="dcterms:W3CDTF">2023-04-11T13:39:58Z</dcterms:created>
  <dcterms:modified xsi:type="dcterms:W3CDTF">2023-04-12T12:47:31Z</dcterms:modified>
</cp:coreProperties>
</file>